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e598b36f-d852-0285-78b4-a928e5ae7eff}">
          <p14:sldIdLst>
            <p14:sldId id="256"/>
          </p14:sldIdLst>
        </p14:section>
        <p14:section name="Why" id="{8005f937-9439-a468-1cb0-f5fee0ea930d}">
          <p14:sldIdLst>
            <p14:sldId id="257"/>
            <p14:sldId id="258"/>
          </p14:sldIdLst>
        </p14:section>
        <p14:section name="Offer" id="{5187111d-ec26-3f13-27c4-6f59e420e934}">
          <p14:sldIdLst>
            <p14:sldId id="259"/>
            <p14:sldId id="260"/>
          </p14:sldIdLst>
        </p14:section>
        <p14:section name="Trust" id="{2b89f365-bef2-f509-48d8-8d06820b64c6}">
          <p14:sldIdLst>
            <p14:sldId id="261"/>
            <p14:sldId id="262"/>
          </p14:sldIdLst>
        </p14:section>
        <p14:section name="Terms" id="{75ce0321-aad6-3e97-6470-50a34f2bc246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B2A4A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1B2A4A"/>
                </a:solidFill>
                <a:latin typeface="+mn-lt"/>
              </a:rPr>
              <a:t>Tick-borne infection in 525 dogs, four Indian cities, PCR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dogs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Hepatozoon canis</c:v>
                  </c:pt>
                  <c:pt idx="1">
                    <c:v>Ehrlichia canis</c:v>
                  </c:pt>
                  <c:pt idx="2">
                    <c:v>Anaplasma platys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20.6</c:v>
                </c:pt>
                <c:pt idx="2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small-animal clinics, veterinary hospitals, government polyclinics, dairy cooperatives and poultry farms in Nagpur and Vidarbha. Dhruv is launching a veterinary vertical on its existing analysers after species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 figures are research-firm estimates; livestock figures from the 2019 census as reported in secondary sources (21st census results not yet published).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test runs only after species validation is complete (see the calibration and validation report). Canine TSH, free T4 by dialysis and SDMA are sent to partner laboratories.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Avian influenza confirmation is reserved to ICAR-NIHSAD Bhopal; scheduled diseases under the PCICDA Act 2009 carry reporting duties. Brucella is not cultured at Dhruv.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Veterinary tests are outside Dhruv's NABL scope. Do not describe them as NABL-accredited and do not show the NABL symbol on veterinary material or reports.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Indian veterinary price points seen: canine CBC Rs 360-500, feline CBC Rs 799, feline LFT or KFT Rs 1,249 (Vetic), dog CBC+LFT+KFT package Rs 2,249-2,600 (Easzopets), IVRI PCR Rs 600-900. Prices to be confirmed by Dhruv management after reagent costing.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Nagpur Veterinary College (founded 1958, MAFSU) runs a teaching clinical complex and is a natural partner for validation samples and a source of veterinary pathologists.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pic>
        <p:nvPicPr>
          <p:cNvPr id="3" name="Image 0" descr="/tmp/claude-0/-home-user-BlisteringBlockchain/d9fb2d6e-0573-5890-9b54-a37c96abb606/scratchpad/art/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46888" cy="30632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86384" y="4773168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Dhruv Diagnostics, Nagpur  ·  Veterinary reference laboratory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76001"/>
            <a:ext cx="545385" cy="67665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12897" y="457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FFFF"/>
                </a:solidFill>
              </a:rPr>
              <a:t>DHRUV</a:t>
            </a:r>
            <a:endParaRPr lang="en-US" sz="2000" dirty="0"/>
          </a:p>
          <a:p>
            <a:pPr indent="0" marL="0">
              <a:buNone/>
            </a:pPr>
            <a:r>
              <a:rPr lang="en-US" sz="1000" spc="400" kern="0" dirty="0">
                <a:solidFill>
                  <a:srgbClr val="93B4F5"/>
                </a:solidFill>
              </a:rPr>
              <a:t>DIAGNOSTICS  ·  VETERINARY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reference lab for vets in Vidarbha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8F5"/>
                </a:solidFill>
              </a:rPr>
              <a:t>CBC, biochemistry, hormones and PCR for pets and livestock, from Dhruv Diagnostics, Nagpur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2C55E"/>
                </a:solidFill>
              </a:rPr>
              <a:t>30+ years in Nagpur</a:t>
            </a:r>
            <a:pPr indent="0" marL="0">
              <a:buNone/>
            </a:pPr>
            <a:r>
              <a:rPr lang="en-US" sz="1150" dirty="0">
                <a:solidFill>
                  <a:srgbClr val="C9D8F5"/>
                </a:solidFill>
              </a:rPr>
              <a:t>   |   Same analysers and quality system as our human lab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Vets in Central India send samples far away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4630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179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</a:rPr>
              <a:t>$248M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India's veterinary diagnostics market in 2025, projected to reach $443M by 2034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40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IMARC, 2025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663440" y="1051560"/>
            <a:ext cx="402336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179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5803D"/>
                </a:solidFill>
              </a:rPr>
              <a:t>33M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7465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livestock in Maharashtra, including 13.9M cattle and 5.6M buffalo (2019 census)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2402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20th Livestock Census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402336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79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31M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3467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pet dogs in India at the end of 2023, and the number keeps rising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Nexdigm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2651760"/>
            <a:ext cx="4023360" cy="146304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64608" y="27797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563EB"/>
                </a:solidFill>
              </a:rPr>
              <a:t>4 lakh L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864608" y="3346704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</a:rPr>
              <a:t>of milk a day from about 35,000 Vidarbha farmers through one producer organisation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64608" y="38404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Marathvarhad MPO, 2025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4622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Full-menu private veterinary labs (Vetic, VetLab) are based in Delhi, Gurugram and Bengaluru; IDEXX India is in Bengaluru. Nagpur has a few small pet-clinic labs.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 fever and parvovirus need PCR</a:t>
            </a:r>
            <a:endParaRPr lang="en-US" sz="27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</a:rPr>
              <a:t>What the studies show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29200" y="14630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the four-city survey PCR found infection in 49.7% of dogs; blood smears found 2.3%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719 Punjab dogs, PCR found more infections than blood-smear microscopy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In Gujarat, quantitative PCR found parvovirus in 85 of 100 dogs tested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About 30% of 578 healthy Indian cattle and buffalo carried a blood parasite on PCR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46227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Sources: Indian multi-city survey of 525 dogs; Punjab multiplex PCR study (n=719); Veterinary World 2026 (Gujarat); Indian bovine haemoparasite PCR survey (n=578).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for dogs and cats</a:t>
            </a:r>
            <a:endParaRPr lang="en-US" sz="2700" dirty="0"/>
          </a:p>
        </p:txBody>
      </p:sp>
      <p:pic>
        <p:nvPicPr>
          <p:cNvPr id="3" name="Image 0" descr="Dog and cat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241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Haematology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874520" y="10241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CBC with a blood-film review by a veterinary pathologist; blood parasites on the smear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099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Biochemistry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874520" y="17099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Liver, kidney, electrolytes, pancreatic (DGGR) lipase, fructosamine, bile acids, urine protein:creatinine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Hormones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23957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Total T4, cortisol, ACTH stimulation and dexamethasone suppression, progesterone for breeding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0815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PCR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30815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Tick fever (Babesia, Ehrlichia, Anaplasma, Hepatozoon), parvovirus, distemper, leptospira, feline panleukopenia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37673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Also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874520" y="3767328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Urinalysis, culture and sensitivity, cytology and histopathology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for dairy and livestock</a:t>
            </a:r>
            <a:endParaRPr lang="en-US" sz="2700" dirty="0"/>
          </a:p>
        </p:txBody>
      </p:sp>
      <p:pic>
        <p:nvPicPr>
          <p:cNvPr id="3" name="Image 0" descr="Cow illustrati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77840" y="0"/>
            <a:ext cx="3566160" cy="427939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2412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Metabolic profile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057400" y="102412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Calcium, phosphorus, magnesium, glucose, beta-hydroxybutyrate, protein and liver enzymes for transition cows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810512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Blood parasites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810512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PCR for Theileria annulata, Anaplasma marginale, Babesia bigemina and Trypanosoma evansi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596896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Mastitis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057400" y="2596896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Milk culture and sensitivity; multiplex qPCR for mastitis pathogens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Herd screening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057400" y="33832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A4A"/>
                </a:solidFill>
              </a:rPr>
              <a:t>Haematology and chemistry for dairy cooperatives and organised farms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114800"/>
            <a:ext cx="4937760" cy="5029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4360" y="4169664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4A"/>
                </a:solidFill>
              </a:rPr>
              <a:t>Scheduled diseases such as avian influenza and lumpy skin disease are referred to government laboratories.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Human-lab quality, validated for animals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Validated per species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Every test is checked in dog and cat blood before launch: precision, accuracy against a reference lab, linearity and interference, following ASVCP guidelines.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460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Species reference ranges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64608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Results come with reference ranges for the species, set on our own analysers, not borrowed from human medicine.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Veterinary pathologist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2918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A registered veterinary pathologist reviews blood films and signs every report, and takes calls from vets.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554480"/>
          </a:xfrm>
          <a:prstGeom prst="rect">
            <a:avLst/>
          </a:prstGeom>
          <a:solidFill>
            <a:srgbClr val="0F1A2E"/>
          </a:solidFill>
          <a:ln w="12700">
            <a:solidFill>
              <a:srgbClr val="0F1A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6460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Proven systems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2918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8F5"/>
                </a:solidFill>
              </a:rPr>
              <a:t>The same analysers, controls and quality system Dhruv has run for human patients for more than 30 years.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your clinic to a report in hours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563EB"/>
                </a:solidFill>
              </a:rPr>
              <a:t>1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Collect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We supply EDTA and plain tubes, slides and cool boxes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2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Pick up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Daily pickup in Nagpur; chilled courier from district towns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3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Test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CBC and chemistry the same day; hormones and PCR in 24-48 hours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9DB8F3"/>
                </a:solidFill>
              </a:rPr>
              <a:t>4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</a:rPr>
              <a:t>Report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2514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Online report with species ranges and the pathologist's comments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Please send a fresh blood smear with every EDTA tube: platelet counts start to fall within 12 hours.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price list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Haematology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CBC with blood-film review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Biochemistry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Liver profile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Biochemistry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Kidney profile with electrolytes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Pre-anaesthetic: CBC, liver, kidney, glucose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Senior wellness: CBC, full chemistry, T4, urinalysis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₹2,499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T4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₹600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Cortisol (single)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A2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ACTH stimulation (two cortisols)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Hormones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Progesterone for breeding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Tick-fever panel: Babesia, Ehrlichia, Anaplasma, Hepatozoon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Parvovirus and distemper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Leptospira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Livestock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Dairy metabolic profile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Livestock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Bovine haemoparasite PCR panel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4434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Proposed launch prices. Clinic accounts get monthly billing; volume rates for government polyclinics and dairy cooperatives.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Ways to work with 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Pet clinics and hospitals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6184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Clinic account, free sample kits, daily pickup, monthly billing, phone line to the pathologist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4608" y="12161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Government veterinary services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64608" y="161848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Polyclinic and district tie-ups for tests not available locally, with volume pricing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55448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Dairy cooperatives and farms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310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Herd metabolic and blood-parasite screening, mastitis testing, field sample collection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554480"/>
          </a:xfrm>
          <a:prstGeom prst="rect">
            <a:avLst/>
          </a:prstGeom>
          <a:solidFill>
            <a:srgbClr val="EFF5FF"/>
          </a:solidFill>
          <a:ln w="12700">
            <a:solidFill>
              <a:srgbClr val="EFF5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64608" y="29077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</a:rPr>
              <a:t>Veterinary college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31012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</a:rPr>
              <a:t>Validation samples, reference ranges for local breeds, CME talks and student projects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7863840" cy="0"/>
          </a:xfrm>
          <a:prstGeom prst="line">
            <a:avLst/>
          </a:prstGeom>
          <a:noFill/>
          <a:ln w="25400">
            <a:solidFill>
              <a:srgbClr val="D6E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0-2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Veterinary pathologist on board; reagents, controls and PCR kits ordered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65176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2-8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CBC and chemistry validated for dogs and cats; soft launch with partner clinics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444752"/>
            <a:ext cx="256032" cy="256032"/>
          </a:xfrm>
          <a:prstGeom prst="ellipse">
            <a:avLst/>
          </a:prstGeom>
          <a:solidFill>
            <a:srgbClr val="2563E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</a:rPr>
              <a:t>Weeks 4-10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T4, cortisol and progesterone validated on our immunoassay analysers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0" y="1444752"/>
            <a:ext cx="256032" cy="256032"/>
          </a:xfrm>
          <a:prstGeom prst="ellipse">
            <a:avLst/>
          </a:prstGeom>
          <a:solidFill>
            <a:srgbClr val="22C55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828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</a:rPr>
              <a:t>Week 12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766560" y="2240280"/>
            <a:ext cx="1874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A"/>
                </a:solidFill>
              </a:rPr>
              <a:t>Full launch with PCR panels and the livestock menu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</a:rPr>
              <a:t>Early partner clinics get introductory pricing for the first three months.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hruv Diagnostic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81"/>
            <a:ext cx="490846" cy="60899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58358" y="365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</a:rPr>
              <a:t>DHRUV</a:t>
            </a:r>
            <a:endParaRPr lang="en-US" sz="1800" dirty="0"/>
          </a:p>
          <a:p>
            <a:pPr indent="0" marL="0">
              <a:buNone/>
            </a:pPr>
            <a:r>
              <a:rPr lang="en-US" sz="900" spc="400" kern="0" dirty="0">
                <a:solidFill>
                  <a:srgbClr val="93B4F5"/>
                </a:solidFill>
              </a:rPr>
              <a:t>DIAGNOSTICS  ·  VETERINARY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51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Open a clinic account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Laxmi Nagar   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+91 89282 95328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920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8F5"/>
                </a:solidFill>
              </a:rPr>
              <a:t>J-11, West High Court Road, Laxmi Nagar, Nagpur 440022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042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Ramdaspeth   </a:t>
            </a:r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+91 99224 16303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78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D8F5"/>
                </a:solidFill>
              </a:rPr>
              <a:t>3rd Floor, Aditya Enclave, Central Bazar Road, Ramdaspeth, Nagpur 440010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D8F5"/>
                </a:solidFill>
              </a:rPr>
              <a:t>Mon-Sat 7 AM-9 PM  |  Sun 7 AM-5 PM   |   dhruvlabs@gmail.com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4864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" name="Image 1" descr="Website QR 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520440"/>
            <a:ext cx="868680" cy="8686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Website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196596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mage 2" descr="Laxmi Nagar map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0" y="3520440"/>
            <a:ext cx="868680" cy="8686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96596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Laxmi Nagar map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3383280" y="3474720"/>
            <a:ext cx="9601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3" descr="Ramdaspeth map QR cod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520440"/>
            <a:ext cx="868680" cy="868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3383280" y="4480560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9D8F5"/>
                </a:solidFill>
              </a:rPr>
              <a:t>Ramdaspeth map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IMARC Group. India veterinary diagnostics market, 2025-2034.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Department of Animal Husbandry and Dairying. 20th Livestock Census, 2019 (Maharashtra figures as reported in secondary sources).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Nexdigm. India pet care market, 2023.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Marathvarhad Milk Producer Organisation coverage, 2025; NDDB Vidarbha and Marathwada Dairy Development Project.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Survey of tick-borne pathogens in 525 dogs from four Indian cities (PCR).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Multiplex PCR versus microscopy for canine haemoparasites in Punjab (n=719).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Duplex qPCR for canine parvovirus and feline panleukopenia virus, Gujarat. Veterinary World, 2026.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PCR survey of haemoparasites in 578 apparently healthy cattle and buffaloes in India.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ASVCP. Principles of Quality Assurance and Standards for Veterinary Clinical Pathology, v3.0, 2019; reference interval guidelines, 2012.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Prevention and Control of Infectious and Contagious Diseases in Animals Act, 2009; DAHD avian influenza action plan, 2021.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000" dirty="0">
                <a:solidFill>
                  <a:srgbClr val="1B2A4A"/>
                </a:solidFill>
              </a:rPr>
              <a:t>Veterinary price points: Pranidhi, Truemedix, Vetic, Easzopets websites; IVRI diagnostics rate card (October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73168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hruv Veterinary">
  <a:themeElements>
    <a:clrScheme name="Dhruv Veterinary">
      <a:dk1>
        <a:srgbClr val="0F172A"/>
      </a:dk1>
      <a:lt1>
        <a:srgbClr val="FFFFFF"/>
      </a:lt1>
      <a:dk2>
        <a:srgbClr val="1B2A4A"/>
      </a:dk2>
      <a:lt2>
        <a:srgbClr val="EFF5FF"/>
      </a:lt2>
      <a:accent1>
        <a:srgbClr val="2563EB"/>
      </a:accent1>
      <a:accent2>
        <a:srgbClr val="15803D"/>
      </a:accent2>
      <a:accent3>
        <a:srgbClr val="B45309"/>
      </a:accent3>
      <a:accent4>
        <a:srgbClr val="475569"/>
      </a:accent4>
      <a:accent5>
        <a:srgbClr val="22C55E"/>
      </a:accent5>
      <a:accent6>
        <a:srgbClr val="D6E0EE"/>
      </a:accent6>
      <a:hlink>
        <a:srgbClr val="2563EB"/>
      </a:hlink>
      <a:folHlink>
        <a:srgbClr val="475569"/>
      </a:folHlink>
    </a:clrScheme>
    <a:fontScheme name="Dhruv Veterinar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Veterinary reference laboratory</dc:title>
  <dc:subject>PptxGenJS Presentation</dc:subject>
  <dc:creator>Dhruv Diagnostics, Nagpur</dc:creator>
  <cp:lastModifiedBy>Dhruv Diagnostics, Nagpur</cp:lastModifiedBy>
  <cp:revision>1</cp:revision>
  <dcterms:created xsi:type="dcterms:W3CDTF">2026-10-15T20:17:18Z</dcterms:created>
  <dcterms:modified xsi:type="dcterms:W3CDTF">2026-10-15T20:17:18Z</dcterms:modified>
</cp:coreProperties>
</file>