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711cbf9-e9c8-b266-030b-aa781dbfa1d7}">
          <p14:sldIdLst>
            <p14:sldId id="256"/>
          </p14:sldIdLst>
        </p14:section>
        <p14:section name="The case" id="{91f7e251-cda7-9ebb-da29-7154564e0a63}">
          <p14:sldIdLst>
            <p14:sldId id="257"/>
            <p14:sldId id="258"/>
          </p14:sldIdLst>
        </p14:section>
        <p14:section name="The signature tests" id="{f19b8620-ce25-9367-c2da-d4b526eb68f8}">
          <p14:sldIdLst>
            <p14:sldId id="259"/>
            <p14:sldId id="260"/>
            <p14:sldId id="261"/>
          </p14:sldIdLst>
        </p14:section>
        <p14:section name="Structure and chemistry" id="{d51c0fe1-166a-4d0b-8031-bbc345e08736}">
          <p14:sldIdLst>
            <p14:sldId id="262"/>
            <p14:sldId id="263"/>
          </p14:sldIdLst>
        </p14:section>
        <p14:section name="Recovery and journey" id="{a0b300da-6c63-c344-d1f5-42770321e996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2A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2A33"/>
                </a:solidFill>
                <a:latin typeface="+mn-lt"/>
              </a:rPr>
              <a:t>Acute heart-failure decision thresholds (pg/mL)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pg/mL</c:v>
                </c:pt>
              </c:strCache>
            </c:strRef>
          </c:tx>
          <c:spPr>
            <a:solidFill>
              <a:srgbClr val="1B7F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2A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Rule-out
(all ages)</c:v>
                  </c:pt>
                  <c:pt idx="1">
                    <c:v>Under 50 y</c:v>
                  </c:pt>
                  <c:pt idx="2">
                    <c:v>50-75 y</c:v>
                  </c:pt>
                  <c:pt idx="3">
                    <c:v>Over 75 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450</c:v>
                </c:pt>
                <c:pt idx="2">
                  <c:v>900</c:v>
                </c:pt>
                <c:pt idx="3">
                  <c:v>1800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2A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6350" cap="flat">
              <a:solidFill>
                <a:srgbClr val="D9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2A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2A33"/>
                </a:solidFill>
                <a:latin typeface="+mn-lt"/>
              </a:rPr>
              <a:t>Apo B treatment goals by risk tier (mg/dL, below)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mg/dL</c:v>
                </c:pt>
              </c:strCache>
            </c:strRef>
          </c:tx>
          <c:spPr>
            <a:solidFill>
              <a:srgbClr val="1B7F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2A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Moderate risk</c:v>
                  </c:pt>
                  <c:pt idx="1">
                    <c:v>High risk</c:v>
                  </c:pt>
                  <c:pt idx="2">
                    <c:v>Very high risk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80</c:v>
                </c:pt>
                <c:pt idx="2">
                  <c:v>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2A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9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This programme packages cardiac, lipid, musculoskeletal and hormonal screening for competitive athletes, recreational endurance runners and bodybuilders, delivered by Dhruv Diagnostics, Nagpur.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problem: a generic executive health check will mislabel athletes. Creatinine over-reads kidney disease in muscular people, haematocrit and lipids behave differently, and tendons fail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Tier contents are a proposed structure; the Dhruv clinical team should confirm final inclusions, region counts and pricing before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TMT also clears members for heat exposure and high-intensity programmes. Sensitivity for coronary disease is moderate, so it is interpreted with risk profile, Apo B and NT-proBNP rather than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clear these thresholds were derived in acute dyspnoea. For athletes the value lies in a personal baseline, correct sample timing and trend, plus reading it alongside ECG, TMT and echo when indicated.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 Apo B with a once-in-lifetime Lp(a). Bodybuilders on androgens often show suppressed HDL and raised LDL particle number, so Apo B is the more honest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High-frequency linear probe. Findings establish a structural baseline, so a later scan can show whether a tendon is adapting or degenerating.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an anti-doping service. This panel exists to protect health in people who train at the extremes.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club is currently open to women only. Frame the sauna as recovery support after medical clearance, not as a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visit is planned to be completed in a single morning. Confirm the exact timing and which investigations are performed in-house or through partner facilities.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Dhruv Diagnostics, Nagpur  |  Athlete &amp; Physique Health Check-Up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1B7F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DHRUV DIAGNOSTICS  |  NAGPUR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Athlete &amp; Physique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Check-Up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C7C9"/>
                </a:solidFill>
              </a:rPr>
              <a:t>Cardiac, lipid, tendon and hormonal screening for people who train hard, with a recovery club to follow.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A030"/>
                </a:solidFill>
              </a:rPr>
              <a:t>TMT  |  NT-proBNP  |  Apo B  |  Tendon &amp; ligament ultrasound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199632" y="621792"/>
            <a:ext cx="1408176" cy="1408176"/>
          </a:xfrm>
          <a:prstGeom prst="ellipse">
            <a:avLst/>
          </a:prstGeom>
          <a:solidFill>
            <a:srgbClr val="0F4C5C"/>
          </a:solidFill>
          <a:ln w="12700">
            <a:solidFill>
              <a:srgbClr val="7FB7B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731520"/>
            <a:ext cx="1188720" cy="118872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6540" y="1028700"/>
            <a:ext cx="594360" cy="5943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931152" y="1901952"/>
            <a:ext cx="1408176" cy="1408176"/>
          </a:xfrm>
          <a:prstGeom prst="ellipse">
            <a:avLst/>
          </a:prstGeom>
          <a:solidFill>
            <a:srgbClr val="0F4C5C"/>
          </a:solidFill>
          <a:ln w="12700">
            <a:solidFill>
              <a:srgbClr val="7FB7B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040880" y="2011680"/>
            <a:ext cx="1188720" cy="118872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8060" y="2308860"/>
            <a:ext cx="594360" cy="59436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199632" y="3182112"/>
            <a:ext cx="1408176" cy="1408176"/>
          </a:xfrm>
          <a:prstGeom prst="ellipse">
            <a:avLst/>
          </a:prstGeom>
          <a:solidFill>
            <a:srgbClr val="0F4C5C"/>
          </a:solidFill>
          <a:ln w="12700">
            <a:solidFill>
              <a:srgbClr val="7FB7B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309360" y="3291840"/>
            <a:ext cx="1188720" cy="118872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540" y="358902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changes what normal looks like</a:t>
            </a:r>
            <a:endParaRPr lang="en-US" sz="3000" dirty="0"/>
          </a:p>
        </p:txBody>
      </p:sp>
      <p:sp>
        <p:nvSpPr>
          <p:cNvPr id="3" name="Card 1"/>
          <p:cNvSpPr/>
          <p:nvPr/>
        </p:nvSpPr>
        <p:spPr>
          <a:xfrm>
            <a:off x="457200" y="1280160"/>
            <a:ext cx="2606040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508760"/>
            <a:ext cx="640080" cy="64008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heart under load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974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Endurance and heavy resistance training remodel the heart. Screening separates healthy adaptation from silent disease.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3246120" y="1280160"/>
            <a:ext cx="2606040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74720" y="1508760"/>
            <a:ext cx="640080" cy="64008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4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and hormones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Diet, supplements and, in some, performance enhancers shift lipids, haematocrit, liver, kidney and hormone markers.</a:t>
            </a:r>
            <a:endParaRPr lang="en-US" sz="1400" dirty="0"/>
          </a:p>
        </p:txBody>
      </p:sp>
      <p:sp>
        <p:nvSpPr>
          <p:cNvPr id="13" name="Card 3"/>
          <p:cNvSpPr/>
          <p:nvPr/>
        </p:nvSpPr>
        <p:spPr>
          <a:xfrm>
            <a:off x="6035040" y="1280160"/>
            <a:ext cx="2606040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63640" y="1508760"/>
            <a:ext cx="640080" cy="64008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6364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Tendons, ligaments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26974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Overuse injuries begin as structural change in the tendon long before pain forces a stop.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Standard check-up ranges are built for sedentary populations. Every Dhruv athlete report is interpreted in athletic context.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plan, three depths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88720"/>
                <a:gridCol w="1371600"/>
                <a:gridCol w="15544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7F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Resting ECG, BP, body composition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Haemogram, ferritin, vit D, B12, HbA1c, TSH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Lipid profile, liver and kidney (incl. cystatin 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 B (+ Lp(a) once)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9C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NT-proBNP and hs-CRP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9C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Male/female hormone axis panel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9C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Treadmill stress test (TMT)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9C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9C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Tendon &amp; ligament ultrasound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9C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region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3 regions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Physician review and trend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Women members of the Elite plan can add Recovery Club access (see slide 9).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TMT: the heart at full effort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B7F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TREADMILL STRESS TEST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72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Baseline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7465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12-lead ECG and BP at rest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037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Staged ramp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4780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Bruce protocol: rises every 3 min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9352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Peak effort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2095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Symptom-limited or target heart rate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6667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Recovery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9410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ECG and BP monitored for 6-10 min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54880" y="1143000"/>
            <a:ext cx="3931920" cy="3337560"/>
          </a:xfrm>
          <a:prstGeom prst="roundRect">
            <a:avLst>
              <a:gd name="adj" fmla="val 27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0" y="12801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read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16916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ST-segment response (exercise-induced ischaemia)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Arrhythmia under load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Blood-pressure response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Functional capacity in METs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Heart-rate recovery and chronotropic response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Advised for athletes over 35, with family history of early heart disease, or with exertional symptoms. An equivocal result leads to cardiology referral for echo or imaging.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NT-proBNP: a baseline for cardiac strain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</a:rPr>
              <a:t>What it measures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2A33"/>
                </a:solidFill>
              </a:rPr>
              <a:t>A peptide released when heart muscle walls are stretched. Rising levels flag cardiac strain before symptoms.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B2A33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</a:rPr>
              <a:t>How we use it in athletes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2A33"/>
                </a:solidFill>
              </a:rPr>
              <a:t>Sampled rested, 24 h or more after a hard session, because prolonged endurance effort raises it transiently. We record a personal baseline and trend it year on year.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0" y="1097280"/>
          <a:ext cx="4114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0" y="4434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Cut-offs from ESC acute heart-failure guidance; used as reference points, not as athlete diagnoses.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 B: count the particles, not the cholesterol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2A33"/>
                </a:solidFill>
              </a:rPr>
              <a:t>Every atherogenic particle (LDL, VLDL, IDL, Lp(a)) carries one Apo B molecule. Apo B is therefore a direct count of the particles that enter the artery wall.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B2A33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2A33"/>
                </a:solidFill>
              </a:rPr>
              <a:t>LDL-C can read normal while Apo B is high. This discordance is common with high triglycerides, insulin resistance, very-low-carbohydrate diets and anabolic-steroid use.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B2A33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5B6B73"/>
                </a:solidFill>
              </a:rPr>
              <a:t>Non-fasting is acceptable for Apo B alone, but we draw it fasting with the full lipid panel.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0" y="1097280"/>
          <a:ext cx="4114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0" y="4434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Goals per ESC/EAS 2019 dyslipidaemia guidelines. Risk tier is assigned by the reviewing physician.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Ultrasound for tendon and ligament health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2062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Shoulder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1430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Rotator cuff, biceps tendon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2062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Elbow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783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Common extensor and flexor origins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42062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42316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Hip and groin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Gluteal tendons, adductor origin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2062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0632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Knee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3063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Patellar and quadriceps tendon, MCL, LCL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42062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03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Ankle and foot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Achilles, ATFL, peroneals, plantar fascia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143000"/>
            <a:ext cx="3749040" cy="3108960"/>
          </a:xfrm>
          <a:prstGeom prst="roundRect">
            <a:avLst>
              <a:gd name="adj" fmla="val 294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1280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probe shows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169164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Tendon thickening and hypoechoic change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Neovascularity on Doppler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Partial tears and calcific deposits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Ligament laxity on dynamic testing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Side-to-side comparison for return-to-play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030"/>
                </a:solidFill>
              </a:rPr>
              <a:t>No radiation. Real-time. Same visit.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Interpreted for the athlete, not the average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needs context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Cystatin C eGFR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Creatinine over-reads kidney disease in high muscle mass and with creatine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Haematocrit, haemoglobin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Androgens can cause erythrocytosis and raise blood viscosity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Lipids, Apo B, Lp(a)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HDL suppression and raised LDL particle number are common on enhancers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ALT, AST, GGT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Transaminases also rise from heavy training; GGT and bilirubin help separate liver stress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Testosterone, LH, FSH, SHBG, oestradiol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axis suppression, recovery after cycles, and low energy availability in women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Ferritin, iron, vitamin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Deficiency is common in endurance athletes and quietly limits performance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HbA1c, fasting insulin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Carbohydrate cycling and insulin or GH use alter glycaemic markers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7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Confidential and non-judgemental. Disclosure of supplement or enhancer use helps us interpret, never penalises.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Recovery Club: sauna, spa and health club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A33"/>
                </a:solidFill>
              </a:rPr>
              <a:t>FOR WOMEN ONLY AT THIS TIME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640080" cy="64008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554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Sauna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01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Heat exposure after training, released after your TMT and BP review.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560320"/>
            <a:ext cx="640080" cy="64008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" y="272034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28620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Massage and hydro-recovery to settle muscle tension between sessions.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57200" y="3520440"/>
            <a:ext cx="640080" cy="64008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368046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4747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club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38221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Guided conditioning and mobility, programmed from your report.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0" y="1143000"/>
            <a:ext cx="3749040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212080" y="1325880"/>
            <a:ext cx="548640" cy="54864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46304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897880" y="1325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comes first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212080" y="210312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Heat sessions follow cardiac and BP screening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Hydration and electrolyte guidance at every visit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advised in pregnancy or uncontrolled hypertension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Men's facilities are not available yet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visit, start to finish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280160"/>
            <a:ext cx="731520" cy="73152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46304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600200" y="1645920"/>
            <a:ext cx="822960" cy="0"/>
          </a:xfrm>
          <a:prstGeom prst="line">
            <a:avLst/>
          </a:prstGeom>
          <a:noFill/>
          <a:ln w="19050">
            <a:solidFill>
              <a:srgbClr val="A9C7C9"/>
            </a:solidFill>
            <a:prstDash val="dash"/>
          </a:ln>
        </p:spPr>
      </p:sp>
      <p:sp>
        <p:nvSpPr>
          <p:cNvPr id="6" name="Text 3"/>
          <p:cNvSpPr txBox="1"/>
          <p:nvPr/>
        </p:nvSpPr>
        <p:spPr>
          <a:xfrm>
            <a:off x="457200" y="2240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Book and prepare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9748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Fast 10-12 h. No hard session for 24 h. Bring your supplement list.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487168" y="1280160"/>
            <a:ext cx="731520" cy="73152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048" y="1463040"/>
            <a:ext cx="365760" cy="3657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64408" y="1645920"/>
            <a:ext cx="822960" cy="0"/>
          </a:xfrm>
          <a:prstGeom prst="line">
            <a:avLst/>
          </a:prstGeom>
          <a:noFill/>
          <a:ln w="19050">
            <a:solidFill>
              <a:srgbClr val="A9C7C9"/>
            </a:solidFill>
            <a:prstDash val="dash"/>
          </a:ln>
        </p:spPr>
      </p:sp>
      <p:sp>
        <p:nvSpPr>
          <p:cNvPr id="11" name="Text 7"/>
          <p:cNvSpPr txBox="1"/>
          <p:nvPr/>
        </p:nvSpPr>
        <p:spPr>
          <a:xfrm>
            <a:off x="2121408" y="2240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Sample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121408" y="269748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Blood and urine collection in the NABL-accredited laboratory.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51376" y="1280160"/>
            <a:ext cx="731520" cy="73152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1463040"/>
            <a:ext cx="365760" cy="36576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4928616" y="1645920"/>
            <a:ext cx="822960" cy="0"/>
          </a:xfrm>
          <a:prstGeom prst="line">
            <a:avLst/>
          </a:prstGeom>
          <a:noFill/>
          <a:ln w="19050">
            <a:solidFill>
              <a:srgbClr val="A9C7C9"/>
            </a:solidFill>
            <a:prstDash val="dash"/>
          </a:ln>
        </p:spPr>
      </p:sp>
      <p:sp>
        <p:nvSpPr>
          <p:cNvPr id="16" name="Text 11"/>
          <p:cNvSpPr txBox="1"/>
          <p:nvPr/>
        </p:nvSpPr>
        <p:spPr>
          <a:xfrm>
            <a:off x="3785616" y="2240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TMT and ECG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69748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Supervised stress test with continuous monitoring.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815584" y="1280160"/>
            <a:ext cx="731520" cy="73152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1463040"/>
            <a:ext cx="365760" cy="36576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592824" y="1645920"/>
            <a:ext cx="822960" cy="0"/>
          </a:xfrm>
          <a:prstGeom prst="line">
            <a:avLst/>
          </a:prstGeom>
          <a:noFill/>
          <a:ln w="19050">
            <a:solidFill>
              <a:srgbClr val="A9C7C9"/>
            </a:solidFill>
            <a:prstDash val="dash"/>
          </a:ln>
        </p:spPr>
      </p:sp>
      <p:sp>
        <p:nvSpPr>
          <p:cNvPr id="21" name="Text 15"/>
          <p:cNvSpPr txBox="1"/>
          <p:nvPr/>
        </p:nvSpPr>
        <p:spPr>
          <a:xfrm>
            <a:off x="5449824" y="2240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Ultrasound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449824" y="269748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Tendon and ligament scan of your chosen regions.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479792" y="1280160"/>
            <a:ext cx="731520" cy="73152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2672" y="1463040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114032" y="2240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Review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114032" y="269748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Physician consult, athlete-specific report and trend plan.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Repeat every 6-12 months to build your personal trend line.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your engine.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your frame.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0A030"/>
                </a:solidFill>
              </a:rPr>
              <a:t>Book your Athlete &amp; Physique Health Check-Up at Dhruv Diagnostics, Nagpur.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7C9"/>
                </a:solidFill>
              </a:rPr>
              <a:t>Laboratory tests performed in a NABL-accredited laboratory. This is a screening programme and does not replace a clinical consultation. It is not an anti-doping service.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589520" y="2926080"/>
            <a:ext cx="914400" cy="914400"/>
          </a:xfrm>
          <a:prstGeom prst="ellipse">
            <a:avLst/>
          </a:prstGeom>
          <a:solidFill>
            <a:srgbClr val="1B7F8C"/>
          </a:solidFill>
          <a:ln w="12700">
            <a:solidFill>
              <a:srgbClr val="1B7F8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31546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hruv Clinical">
  <a:themeElements>
    <a:clrScheme name="Dhruv Clinical">
      <a:dk1>
        <a:srgbClr val="0B2A33"/>
      </a:dk1>
      <a:lt1>
        <a:srgbClr val="FFFFFF"/>
      </a:lt1>
      <a:dk2>
        <a:srgbClr val="0F4C5C"/>
      </a:dk2>
      <a:lt2>
        <a:srgbClr val="EEF4F4"/>
      </a:lt2>
      <a:accent1>
        <a:srgbClr val="1B7F8C"/>
      </a:accent1>
      <a:accent2>
        <a:srgbClr val="E0A030"/>
      </a:accent2>
      <a:accent3>
        <a:srgbClr val="7FB7B2"/>
      </a:accent3>
      <a:accent4>
        <a:srgbClr val="C8553D"/>
      </a:accent4>
      <a:accent5>
        <a:srgbClr val="5B6B73"/>
      </a:accent5>
      <a:accent6>
        <a:srgbClr val="A9C7C9"/>
      </a:accent6>
      <a:hlink>
        <a:srgbClr val="1B7F8C"/>
      </a:hlink>
      <a:folHlink>
        <a:srgbClr val="5B6B73"/>
      </a:folHlink>
    </a:clrScheme>
    <a:fontScheme name="Dhruv Clinic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Dhruv Diagnostics - Athlete &amp; Physique Health Check-Up</dc:title>
  <dc:subject>PptxGenJS Presentation</dc:subject>
  <dc:creator>Dhruv Diagnostics, Nagpur</dc:creator>
  <cp:lastModifiedBy>Dhruv Diagnostics, Nagpur</cp:lastModifiedBy>
  <cp:revision>1</cp:revision>
  <dcterms:created xsi:type="dcterms:W3CDTF">2026-10-10T06:00:31Z</dcterms:created>
  <dcterms:modified xsi:type="dcterms:W3CDTF">2026-10-10T06:00:31Z</dcterms:modified>
</cp:coreProperties>
</file>