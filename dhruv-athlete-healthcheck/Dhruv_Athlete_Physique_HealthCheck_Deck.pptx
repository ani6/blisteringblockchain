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692fe14-c4fe-31af-371e-6856c3c53a1e}">
          <p14:sldIdLst>
            <p14:sldId id="256"/>
          </p14:sldIdLst>
        </p14:section>
        <p14:section name="Rationale and plans" id="{b6fdf2bb-1238-ded4-1312-6931e87ea6f8}">
          <p14:sldIdLst>
            <p14:sldId id="257"/>
            <p14:sldId id="258"/>
          </p14:sldIdLst>
        </p14:section>
        <p14:section name="Heart and lipids" id="{678a4751-e0d6-3951-27a3-f689c2757311}">
          <p14:sldIdLst>
            <p14:sldId id="259"/>
            <p14:sldId id="260"/>
            <p14:sldId id="261"/>
          </p14:sldIdLst>
        </p14:section>
        <p14:section name="Muscle, hormones and longevity" id="{624f4482-248c-ab06-70c5-a6d1c6038829}">
          <p14:sldIdLst>
            <p14:sldId id="262"/>
            <p14:sldId id="263"/>
            <p14:sldId id="264"/>
          </p14:sldIdLst>
        </p14:section>
        <p14:section name="Tendons and ligaments" id="{b4e8de9e-1587-2948-5bbc-7c69e81e7290}">
          <p14:sldIdLst>
            <p14:sldId id="265"/>
          </p14:sldIdLst>
        </p14:section>
        <p14:section name="Doping and drug screening" id="{43ebc06a-308a-e92d-dd78-1619c5683283}">
          <p14:sldIdLst>
            <p14:sldId id="266"/>
            <p14:sldId id="267"/>
          </p14:sldIdLst>
        </p14:section>
        <p14:section name="Recovery and visit" id="{771f90dd-d95f-5dac-9634-86f630981c9b}">
          <p14:sldIdLst>
            <p14:sldId id="268"/>
            <p14:sldId id="269"/>
          </p14:sldIdLst>
        </p14:section>
        <p14:section name="Sources" id="{2ed0a438-44e4-b3c0-1c39-d81138d0c36a}">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172A"/>
                </a:solidFill>
                <a:latin typeface="+mn-lt"/>
              </a:defRPr>
            </a:pPr>
            <a:r>
              <a:rPr sz="1100" b="0" i="0" u="none" strike="noStrike">
                <a:solidFill>
                  <a:srgbClr val="0F172A"/>
                </a:solidFill>
                <a:latin typeface="+mn-lt"/>
              </a:rPr>
              <a:t>Upper reference limit, serum CK (U/L)</a:t>
            </a:r>
          </a:p>
        </c:rich>
      </c:tx>
      <c:layout/>
      <c:overlay val="0"/>
    </c:title>
    <c:autoTitleDeleted val="0"/>
    <c:plotArea>
      <c:layout/>
      <c:barChart>
        <c:barDir val="col"/>
        <c:grouping val="clustered"/>
        <c:varyColors val="0"/>
        <c:ser>
          <c:idx val="0"/>
          <c:order val="0"/>
          <c:tx>
            <c:strRef>
              <c:f>Sheet1!$B$1</c:f>
              <c:strCache>
                <c:ptCount val="1"/>
                <c:pt idx="0">
                  <c:v>Athletes</c:v>
                </c:pt>
              </c:strCache>
            </c:strRef>
          </c:tx>
          <c:spPr>
            <a:solidFill>
              <a:srgbClr val="2563E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Sheet1!$A$2:$A$3</c:f>
              <c:multiLvlStrCache>
                <c:ptCount val="2"/>
                <c:lvl>
                  <c:pt idx="0">
                    <c:v>Men</c:v>
                  </c:pt>
                  <c:pt idx="1">
                    <c:v>Women</c:v>
                  </c:pt>
                </c:lvl>
              </c:multiLvlStrCache>
            </c:multiLvlStrRef>
          </c:cat>
          <c:val>
            <c:numRef>
              <c:f>Sheet1!$B$2:$B$3</c:f>
              <c:numCache>
                <c:formatCode>General</c:formatCode>
                <c:ptCount val="2"/>
                <c:pt idx="0">
                  <c:v>1083</c:v>
                </c:pt>
                <c:pt idx="1">
                  <c:v>513</c:v>
                </c:pt>
              </c:numCache>
            </c:numRef>
          </c:val>
        </c:ser>
        <c:ser>
          <c:idx val="1"/>
          <c:order val="1"/>
          <c:tx>
            <c:strRef>
              <c:f>Sheet1!$C$1</c:f>
              <c:strCache>
                <c:ptCount val="1"/>
                <c:pt idx="0">
                  <c:v>Non-athletes</c:v>
                </c:pt>
              </c:strCache>
            </c:strRef>
          </c:tx>
          <c:spPr>
            <a:solidFill>
              <a:srgbClr val="A9BFE8"/>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Sheet1!$A$2:$A$3</c:f>
              <c:multiLvlStrCache>
                <c:ptCount val="2"/>
                <c:lvl>
                  <c:pt idx="0">
                    <c:v>Men</c:v>
                  </c:pt>
                  <c:pt idx="1">
                    <c:v>Women</c:v>
                  </c:pt>
                </c:lvl>
              </c:multiLvlStrCache>
            </c:multiLvlStrRef>
          </c:cat>
          <c:val>
            <c:numRef>
              <c:f>Sheet1!$C$2:$C$3</c:f>
              <c:numCache>
                <c:formatCode>General</c:formatCode>
                <c:ptCount val="2"/>
                <c:pt idx="0">
                  <c:v>491</c:v>
                </c:pt>
                <c:pt idx="1">
                  <c:v>252</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200"/>
          <c:min val="0"/>
        </c:scaling>
        <c:delete val="0"/>
        <c:axPos val="l"/>
        <c:majorGridlines>
          <c:spPr>
            <a:ln w="6350" cap="flat">
              <a:solidFill>
                <a:srgbClr val="D6E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4"/>
        <c:crosses val="autoZero"/>
        <c:crossBetween val="between"/>
        <c:majorUnit val="200"/>
      </c:valAx>
      <c:spPr>
        <a:noFill/>
        <a:ln>
          <a:noFill/>
        </a:ln>
        <a:effectLst/>
      </c:spPr>
    </c:plotArea>
    <c:legend>
      <c:legendPos val="b"/>
      <c:overlay val="0"/>
      <c:txPr>
        <a:bodyPr/>
        <a:lstStyle/>
        <a:p>
          <a:pPr>
            <a:defRPr sz="11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172A"/>
                </a:solidFill>
                <a:latin typeface="+mn-lt"/>
              </a:defRPr>
            </a:pPr>
            <a:r>
              <a:rPr sz="1100" b="0" i="0" u="none" strike="noStrike">
                <a:solidFill>
                  <a:srgbClr val="0F172A"/>
                </a:solidFill>
                <a:latin typeface="+mn-lt"/>
              </a:rPr>
              <a:t>Acute heart-failure cut-offs (pg/mL)</a:t>
            </a:r>
          </a:p>
        </c:rich>
      </c:tx>
      <c:layout/>
      <c:overlay val="0"/>
    </c:title>
    <c:autoTitleDeleted val="0"/>
    <c:plotArea>
      <c:layout/>
      <c:barChart>
        <c:barDir val="col"/>
        <c:grouping val="clustered"/>
        <c:varyColors val="0"/>
        <c:ser>
          <c:idx val="0"/>
          <c:order val="0"/>
          <c:tx>
            <c:strRef>
              <c:f>Sheet1!$B$1</c:f>
              <c:strCache>
                <c:ptCount val="1"/>
                <c:pt idx="0">
                  <c:v>pg/mL</c:v>
                </c:pt>
              </c:strCache>
            </c:strRef>
          </c:tx>
          <c:spPr>
            <a:solidFill>
              <a:srgbClr val="2563E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Rule-out
(all ages)</c:v>
                  </c:pt>
                  <c:pt idx="1">
                    <c:v>Under 50 y</c:v>
                  </c:pt>
                  <c:pt idx="2">
                    <c:v>50-75 y</c:v>
                  </c:pt>
                  <c:pt idx="3">
                    <c:v>Over 75 y</c:v>
                  </c:pt>
                </c:lvl>
              </c:multiLvlStrCache>
            </c:multiLvlStrRef>
          </c:cat>
          <c:val>
            <c:numRef>
              <c:f>Sheet1!$B$2:$B$5</c:f>
              <c:numCache>
                <c:formatCode>General</c:formatCode>
                <c:ptCount val="4"/>
                <c:pt idx="0">
                  <c:v>300</c:v>
                </c:pt>
                <c:pt idx="1">
                  <c:v>450</c:v>
                </c:pt>
                <c:pt idx="2">
                  <c:v>900</c:v>
                </c:pt>
                <c:pt idx="3">
                  <c:v>1800</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2000"/>
          <c:min val="0"/>
        </c:scaling>
        <c:delete val="0"/>
        <c:axPos val="l"/>
        <c:majorGridlines>
          <c:spPr>
            <a:ln w="6350" cap="flat">
              <a:solidFill>
                <a:srgbClr val="D6E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172A"/>
                </a:solidFill>
                <a:latin typeface="+mn-lt"/>
              </a:defRPr>
            </a:pPr>
            <a:r>
              <a:rPr sz="1100" b="0" i="0" u="none" strike="noStrike">
                <a:solidFill>
                  <a:srgbClr val="0F172A"/>
                </a:solidFill>
                <a:latin typeface="+mn-lt"/>
              </a:rPr>
              <a:t>Apo B goal by risk category, below (mg/dL)</a:t>
            </a:r>
          </a:p>
        </c:rich>
      </c:tx>
      <c:layout/>
      <c:overlay val="0"/>
    </c:title>
    <c:autoTitleDeleted val="0"/>
    <c:plotArea>
      <c:layout/>
      <c:barChart>
        <c:barDir val="col"/>
        <c:grouping val="clustered"/>
        <c:varyColors val="0"/>
        <c:ser>
          <c:idx val="0"/>
          <c:order val="0"/>
          <c:tx>
            <c:strRef>
              <c:f>Sheet1!$B$1</c:f>
              <c:strCache>
                <c:ptCount val="1"/>
                <c:pt idx="0">
                  <c:v>mg/dL</c:v>
                </c:pt>
              </c:strCache>
            </c:strRef>
          </c:tx>
          <c:spPr>
            <a:solidFill>
              <a:srgbClr val="2563E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Moderate risk</c:v>
                  </c:pt>
                  <c:pt idx="1">
                    <c:v>High risk</c:v>
                  </c:pt>
                  <c:pt idx="2">
                    <c:v>Very high risk</c:v>
                  </c:pt>
                </c:lvl>
              </c:multiLvlStrCache>
            </c:multiLvlStrRef>
          </c:cat>
          <c:val>
            <c:numRef>
              <c:f>Sheet1!$B$2:$B$4</c:f>
              <c:numCache>
                <c:formatCode>General</c:formatCode>
                <c:ptCount val="3"/>
                <c:pt idx="0">
                  <c:v>100</c:v>
                </c:pt>
                <c:pt idx="1">
                  <c:v>80</c:v>
                </c:pt>
                <c:pt idx="2">
                  <c:v>65</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D6E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sets out the clinical content of the Dhruv Diagnostics health check-up for athletes and bodybuilders: what is tested, why, how it is interpreted in people who train hard, and how the visit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Mougios found athlete upper limits roughly double those of moderately active non-athletes. Male footballers reached 1492 U/L against 523 U/L for swimmers, so sport matters as well as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structure. Final inclusions, ultrasound region counts and prices to be confirmed by the Dhruv clinical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TMT METs also feed the longevity section: cardiorespiratory fitness measured this way was the strongest modifiable predictor of survival in the Cleveland Clinic cohort (Mandsager 2018). Heart-rate recovery cut-off from Cole et al., NEJM 1999.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thresholds were built to diagnose acute heart failure. In a fit athlete the value is a baseline; a sustained rise on repeat testing is what prompts echo or cardiology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Lp(a) once-in-a-lifetime measurement follows the EAS 2022 consensus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muscle markers at least 48 to 72 hours after the last hard or eccentric session, otherwise the result reflects the session and not the athlete. Rhabdomyolysis is conventionally defined as CK at least 5 times the upper limit of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testosterone and cortisol between 8 and 10 am. This panel is for health monitoring; it is not a doping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Mandsager et al. found no upper limit to the survival benefit of fitness. The study is observational, so the association does not prove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choice is guided by sport and symptoms: Achilles and patellar tendons for runners and jumpers, rotator cuff and distal biceps for lifters.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Athletes should check every medicine against the current Prohibited List and apply for a Therapeutic Use Exemption where needed. Semaglutide and tirzepatide are on WADA's 2026 monitoring programme, not banned.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composition to be confirmed against the kit Dhruv uses. Under the 2021 Code, cocaine, heroin, MDMA and THC are Substances of Abuse, with reduced sanctions for out-of-competition use unrelated to 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club is women-only for now. Sauna access follows medical clearance from the check-up; it is positioned as recovery support, not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Biotin interferes with streptavidin-based immunoassays. Order on the day: fasting bloods and urine, breakfast, ultrasound, then TMT, then physician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Laboratory tests are performed in a NABL-accredited laboratory. The check-up is a screening programme and does not replace a consultation with your own doctor. Dhruv Diagnostics does not perform doping control; official testing is carried out by NADA India at WADA-accredited laboratories.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A2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457200" y="4773168"/>
            <a:ext cx="5943600" cy="201168"/>
          </a:xfrm>
          <a:prstGeom prst="rect">
            <a:avLst/>
          </a:prstGeom>
          <a:noFill/>
          <a:ln/>
        </p:spPr>
        <p:txBody>
          <a:bodyPr wrap="square" lIns="0" tIns="0" rIns="0" bIns="0" rtlCol="0" anchor="ctr"/>
          <a:lstStyle/>
          <a:p>
            <a:pPr indent="0" marL="0">
              <a:buNone/>
            </a:pPr>
            <a:r>
              <a:rPr lang="en-US" sz="900" dirty="0">
                <a:solidFill>
                  <a:schemeClr val="accent4"/>
                </a:solidFill>
              </a:rPr>
              <a:t>Dhruv Diagnostics, Nagpur  ·  Athlete and Physique Health Check-Up</a:t>
            </a:r>
            <a:endParaRPr lang="en-US" sz="9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2743200" cy="640080"/>
          </a:xfrm>
          <a:prstGeom prst="rect">
            <a:avLst/>
          </a:prstGeom>
          <a:noFill/>
          <a:ln/>
        </p:spPr>
        <p:txBody>
          <a:bodyPr wrap="square" lIns="0" tIns="0" rIns="0" bIns="0" rtlCol="0" anchor="t"/>
          <a:lstStyle/>
          <a:p>
            <a:pPr indent="0" marL="0">
              <a:buNone/>
            </a:pPr>
            <a:r>
              <a:rPr lang="en-US" sz="2200" b="1" spc="100" kern="0" dirty="0">
                <a:solidFill>
                  <a:srgbClr val="FFFFFF"/>
                </a:solidFill>
              </a:rPr>
              <a:t>DHRUV</a:t>
            </a:r>
            <a:endParaRPr lang="en-US" sz="2200" dirty="0"/>
          </a:p>
          <a:p>
            <a:pPr indent="0" marL="0">
              <a:buNone/>
            </a:pPr>
            <a:r>
              <a:rPr lang="en-US" sz="1100" spc="400" kern="0" dirty="0">
                <a:solidFill>
                  <a:srgbClr val="93B4F5"/>
                </a:solidFill>
              </a:rPr>
              <a:t>DIAGNOSTICS</a:t>
            </a:r>
            <a:endParaRPr lang="en-US" sz="2200" dirty="0"/>
          </a:p>
        </p:txBody>
      </p:sp>
      <p:sp>
        <p:nvSpPr>
          <p:cNvPr id="3" name="Text 1"/>
          <p:cNvSpPr txBox="1"/>
          <p:nvPr/>
        </p:nvSpPr>
        <p:spPr>
          <a:xfrm>
            <a:off x="548640" y="1417320"/>
            <a:ext cx="4754880" cy="1463040"/>
          </a:xfrm>
          <a:prstGeom prst="rect">
            <a:avLst/>
          </a:prstGeom>
          <a:noFill/>
          <a:ln/>
        </p:spPr>
        <p:txBody>
          <a:bodyPr wrap="square" lIns="0" tIns="0" rIns="0" bIns="0" rtlCol="0" anchor="t"/>
          <a:lstStyle/>
          <a:p>
            <a:pPr indent="0" marL="0">
              <a:buNone/>
            </a:pPr>
            <a:r>
              <a:rPr lang="en-US" sz="3600" b="1" dirty="0">
                <a:solidFill>
                  <a:srgbClr val="FFFFFF"/>
                </a:solidFill>
              </a:rPr>
              <a:t>Athlete and Physique Health Check-Up</a:t>
            </a:r>
            <a:endParaRPr lang="en-US" sz="3600" dirty="0"/>
          </a:p>
        </p:txBody>
      </p:sp>
      <p:sp>
        <p:nvSpPr>
          <p:cNvPr id="4" name="Text 2"/>
          <p:cNvSpPr txBox="1"/>
          <p:nvPr/>
        </p:nvSpPr>
        <p:spPr>
          <a:xfrm>
            <a:off x="548640" y="2926080"/>
            <a:ext cx="4206240" cy="731520"/>
          </a:xfrm>
          <a:prstGeom prst="rect">
            <a:avLst/>
          </a:prstGeom>
          <a:noFill/>
          <a:ln/>
        </p:spPr>
        <p:txBody>
          <a:bodyPr wrap="square" lIns="0" tIns="0" rIns="0" bIns="0" rtlCol="0" anchor="t"/>
          <a:lstStyle/>
          <a:p>
            <a:pPr indent="0" marL="0">
              <a:buNone/>
            </a:pPr>
            <a:r>
              <a:rPr lang="en-US" sz="1500" dirty="0">
                <a:solidFill>
                  <a:srgbClr val="C9D8F5"/>
                </a:solidFill>
              </a:rPr>
              <a:t>Cardiac, muscle, hormone, longevity and tendon assessment for athletes and bodybuilders.</a:t>
            </a:r>
            <a:endParaRPr lang="en-US" sz="1500" dirty="0"/>
          </a:p>
        </p:txBody>
      </p:sp>
      <p:sp>
        <p:nvSpPr>
          <p:cNvPr id="5" name="Text 3"/>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100" b="1" dirty="0">
                <a:solidFill>
                  <a:srgbClr val="22C55E"/>
                </a:solidFill>
              </a:rPr>
              <a:t>NABL accredited since 2011</a:t>
            </a:r>
            <a:pPr indent="0" marL="0">
              <a:buNone/>
            </a:pPr>
            <a:r>
              <a:rPr lang="en-US" sz="1100" dirty="0">
                <a:solidFill>
                  <a:srgbClr val="C9D8F5"/>
                </a:solidFill>
              </a:rPr>
              <a:t>   |   Technical overview for clinicians and coaches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Athletes run higher CK than non-athletes</a:t>
            </a:r>
            <a:endParaRPr lang="en-US" sz="2800" dirty="0"/>
          </a:p>
        </p:txBody>
      </p:sp>
      <p:sp>
        <p:nvSpPr>
          <p:cNvPr id="3" name="Text 1"/>
          <p:cNvSpPr txBox="1"/>
          <p:nvPr/>
        </p:nvSpPr>
        <p:spPr>
          <a:xfrm>
            <a:off x="457200" y="1097280"/>
            <a:ext cx="3840480" cy="3383280"/>
          </a:xfrm>
          <a:prstGeom prst="rect">
            <a:avLst/>
          </a:prstGeom>
          <a:noFill/>
          <a:ln/>
        </p:spPr>
        <p:txBody>
          <a:bodyPr wrap="square" lIns="0" tIns="0" rIns="0" bIns="0" rtlCol="0" anchor="t"/>
          <a:lstStyle/>
          <a:p>
            <a:pPr indent="0" marL="0">
              <a:buNone/>
            </a:pPr>
            <a:r>
              <a:rPr lang="en-US" sz="1400" dirty="0">
                <a:solidFill>
                  <a:srgbClr val="0F172A"/>
                </a:solidFill>
              </a:rPr>
              <a:t>Mougios (2007) measured serum creatine kinase in 483 male and 245 female athletes. The upper reference limit in athletes was about twice that of non-athletes, and footballers ran higher still.</a:t>
            </a:r>
            <a:endParaRPr lang="en-US" sz="1400" dirty="0"/>
          </a:p>
          <a:p>
            <a:pPr indent="0" marL="0">
              <a:buNone/>
            </a:pPr>
            <a:r>
              <a:rPr lang="en-US" sz="600" dirty="0">
                <a:solidFill>
                  <a:srgbClr val="0F172A"/>
                </a:solidFill>
              </a:rPr>
              <a:t> </a:t>
            </a:r>
            <a:endParaRPr lang="en-US" sz="1400" dirty="0"/>
          </a:p>
          <a:p>
            <a:pPr indent="0" marL="0">
              <a:buNone/>
            </a:pPr>
            <a:r>
              <a:rPr lang="en-US" sz="1400" dirty="0">
                <a:solidFill>
                  <a:srgbClr val="0F172A"/>
                </a:solidFill>
              </a:rPr>
              <a:t>A CK of 900 U/L, flagged as high on a standard report, can be ordinary for a male athlete in season.</a:t>
            </a:r>
            <a:endParaRPr lang="en-US" sz="1400" dirty="0"/>
          </a:p>
          <a:p>
            <a:pPr indent="0" marL="0">
              <a:buNone/>
            </a:pPr>
            <a:r>
              <a:rPr lang="en-US" sz="600" dirty="0">
                <a:solidFill>
                  <a:srgbClr val="0F172A"/>
                </a:solidFill>
              </a:rPr>
              <a:t> </a:t>
            </a:r>
            <a:endParaRPr lang="en-US" sz="1400" dirty="0"/>
          </a:p>
          <a:p>
            <a:pPr indent="0" marL="0">
              <a:buNone/>
            </a:pPr>
            <a:r>
              <a:rPr lang="en-US" sz="1400" dirty="0">
                <a:solidFill>
                  <a:srgbClr val="0F172A"/>
                </a:solidFill>
              </a:rPr>
              <a:t>The same problem affects haemoglobin, creatinine, AST, ALT and ECG voltage. Reports in this plan are read against the athlete's sport and training phase.</a:t>
            </a:r>
            <a:endParaRPr lang="en-US" sz="1400" dirty="0"/>
          </a:p>
        </p:txBody>
      </p:sp>
      <p:graphicFrame>
        <p:nvGraphicFramePr>
          <p:cNvPr id="4" name="Chart 0" descr=""/>
          <p:cNvGraphicFramePr/>
          <p:nvPr/>
        </p:nvGraphicFramePr>
        <p:xfrm>
          <a:off x="4572000" y="1051560"/>
          <a:ext cx="41148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0" y="4462272"/>
            <a:ext cx="4114800" cy="274320"/>
          </a:xfrm>
          <a:prstGeom prst="rect">
            <a:avLst/>
          </a:prstGeom>
          <a:noFill/>
          <a:ln/>
        </p:spPr>
        <p:txBody>
          <a:bodyPr wrap="square" lIns="0" tIns="0" rIns="0" bIns="0" rtlCol="0" anchor="ctr"/>
          <a:lstStyle/>
          <a:p>
            <a:pPr indent="0" marL="0">
              <a:buNone/>
            </a:pPr>
            <a:r>
              <a:rPr lang="en-US" sz="1000" dirty="0">
                <a:solidFill>
                  <a:schemeClr val="accent4"/>
                </a:solidFill>
              </a:rPr>
              <a:t>Source: Mougios V. Br J Sports Med 2007;41:674-678. 97.5th percentile, 37 °C.</a:t>
            </a:r>
            <a:endParaRPr lang="en-US" sz="10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What each plan includes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663440"/>
                <a:gridCol w="1005840"/>
                <a:gridCol w="1188720"/>
                <a:gridCol w="1371600"/>
              </a:tblGrid>
              <a:tr h="265176">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Investigation</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Base</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Performance</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Elite</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Resting ECG, blood pressure, anthropometry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Haemogram with reticulocytes, ferritin, vitamin D, B12</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Glucose, HbA1c, lipid profile, liver, kidney with cystatin C, TSH</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Muscle panel: CK, CK-MB, LDH, myoglobin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563EB"/>
                          </a:solidFill>
                          <a:latin typeface="Arial" pitchFamily="34" charset="0"/>
                          <a:ea typeface="Arial" pitchFamily="34" charset="-122"/>
                          <a:cs typeface="Arial" pitchFamily="34" charset="-120"/>
                        </a:rPr>
                        <a:t>CK only</a:t>
                      </a:r>
                      <a:endParaRPr lang="en-US" sz="105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Apo B, Lp(a), hs-CRP, homocysteine, fasting insulin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NT-proBNP</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Hormone panel: testosterone, LH, FSH, SHBG, oestradiol, prolactin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hs-troponin, cortisol, IGF-1, urine albumin:creatinine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Treadmill stress test (TMT)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Tendon and ligament ultrasound by an MSK radiologist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563EB"/>
                          </a:solidFill>
                          <a:latin typeface="Arial" pitchFamily="34" charset="0"/>
                          <a:ea typeface="Arial" pitchFamily="34" charset="-122"/>
                          <a:cs typeface="Arial" pitchFamily="34" charset="-120"/>
                        </a:rPr>
                        <a:t>1 region</a:t>
                      </a:r>
                      <a:endParaRPr lang="en-US" sz="105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563EB"/>
                          </a:solidFill>
                          <a:latin typeface="Arial" pitchFamily="34" charset="0"/>
                          <a:ea typeface="Arial" pitchFamily="34" charset="-122"/>
                          <a:cs typeface="Arial" pitchFamily="34" charset="-120"/>
                        </a:rPr>
                        <a:t>Up to 3 regions</a:t>
                      </a:r>
                      <a:endParaRPr lang="en-US" sz="105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Urine drugs-of-abuse screen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563EB"/>
                          </a:solidFill>
                          <a:latin typeface="Arial" pitchFamily="34" charset="0"/>
                          <a:ea typeface="Arial" pitchFamily="34" charset="-122"/>
                          <a:cs typeface="Arial" pitchFamily="34" charset="-120"/>
                        </a:rPr>
                        <a:t>Add-on</a:t>
                      </a:r>
                      <a:endParaRPr lang="en-US" sz="105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563EB"/>
                          </a:solidFill>
                          <a:latin typeface="Arial" pitchFamily="34" charset="0"/>
                          <a:ea typeface="Arial" pitchFamily="34" charset="-122"/>
                          <a:cs typeface="Arial" pitchFamily="34" charset="-120"/>
                        </a:rPr>
                        <a:t>Add-on</a:t>
                      </a:r>
                      <a:endParaRPr lang="en-US" sz="105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563EB"/>
                          </a:solidFill>
                          <a:latin typeface="Arial" pitchFamily="34" charset="0"/>
                          <a:ea typeface="Arial" pitchFamily="34" charset="-122"/>
                          <a:cs typeface="Arial" pitchFamily="34" charset="-120"/>
                        </a:rPr>
                        <a:t>Add-on</a:t>
                      </a:r>
                      <a:endParaRPr lang="en-US" sz="105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2651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Physician review of the full report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563EB"/>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Treadmill stress test, Bruce protocol</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114800" cy="914400"/>
        </p:xfrm>
        <a:graphic>
          <a:graphicData uri="http://schemas.openxmlformats.org/drawingml/2006/table">
            <a:tbl>
              <a:tblPr/>
              <a:tblGrid>
                <a:gridCol w="731520"/>
                <a:gridCol w="1051560"/>
                <a:gridCol w="914400"/>
                <a:gridCol w="141732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Stage</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Speed (km/h)</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Grade (%)</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METs at end, approx.</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2.7</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5.5</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14</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6.8</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8.0</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8.8</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0F172A"/>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9.7</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22</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19</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977640"/>
            <a:ext cx="4114800" cy="411480"/>
          </a:xfrm>
          <a:prstGeom prst="rect">
            <a:avLst/>
          </a:prstGeom>
          <a:noFill/>
          <a:ln/>
        </p:spPr>
        <p:txBody>
          <a:bodyPr wrap="square" lIns="0" tIns="0" rIns="0" bIns="0" rtlCol="0" anchor="ctr"/>
          <a:lstStyle/>
          <a:p>
            <a:pPr indent="0" marL="0">
              <a:buNone/>
            </a:pPr>
            <a:r>
              <a:rPr lang="en-US" sz="1000" dirty="0">
                <a:solidFill>
                  <a:schemeClr val="accent4"/>
                </a:solidFill>
              </a:rPr>
              <a:t>Each stage lasts 3 minutes. METs are estimates and vary by equation.</a:t>
            </a:r>
            <a:endParaRPr lang="en-US" sz="1000" dirty="0"/>
          </a:p>
        </p:txBody>
      </p:sp>
      <p:sp>
        <p:nvSpPr>
          <p:cNvPr id="5" name="Text 2"/>
          <p:cNvSpPr txBox="1"/>
          <p:nvPr/>
        </p:nvSpPr>
        <p:spPr>
          <a:xfrm>
            <a:off x="4846320" y="1051560"/>
            <a:ext cx="3840480" cy="292608"/>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Reported</a:t>
            </a:r>
            <a:endParaRPr lang="en-US" sz="1500" dirty="0"/>
          </a:p>
        </p:txBody>
      </p:sp>
      <p:sp>
        <p:nvSpPr>
          <p:cNvPr id="6" name="Text 3"/>
          <p:cNvSpPr txBox="1"/>
          <p:nvPr/>
        </p:nvSpPr>
        <p:spPr>
          <a:xfrm>
            <a:off x="4846320" y="1417320"/>
            <a:ext cx="3840480" cy="21031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Exercise time, stage reached and estimated METs</a:t>
            </a:r>
            <a:endParaRPr lang="en-US" sz="1300" dirty="0"/>
          </a:p>
          <a:p>
            <a:pPr marL="342900" indent="-342900">
              <a:spcAft>
                <a:spcPts val="400"/>
              </a:spcAft>
              <a:buSzPct val="100000"/>
              <a:buChar char="•"/>
            </a:pPr>
            <a:r>
              <a:rPr lang="en-US" sz="1300" dirty="0">
                <a:solidFill>
                  <a:schemeClr val="tx1"/>
                </a:solidFill>
              </a:rPr>
              <a:t>Peak heart rate as % of age-predicted maximum</a:t>
            </a:r>
            <a:endParaRPr lang="en-US" sz="1300" dirty="0"/>
          </a:p>
          <a:p>
            <a:pPr marL="342900" indent="-342900">
              <a:spcAft>
                <a:spcPts val="400"/>
              </a:spcAft>
              <a:buSzPct val="100000"/>
              <a:buChar char="•"/>
            </a:pPr>
            <a:r>
              <a:rPr lang="en-US" sz="1300" dirty="0">
                <a:solidFill>
                  <a:schemeClr val="tx1"/>
                </a:solidFill>
              </a:rPr>
              <a:t>Blood-pressure response at each stage</a:t>
            </a:r>
            <a:endParaRPr lang="en-US" sz="1300" dirty="0"/>
          </a:p>
          <a:p>
            <a:pPr marL="342900" indent="-342900">
              <a:spcAft>
                <a:spcPts val="400"/>
              </a:spcAft>
              <a:buSzPct val="100000"/>
              <a:buChar char="•"/>
            </a:pPr>
            <a:r>
              <a:rPr lang="en-US" sz="1300" dirty="0">
                <a:solidFill>
                  <a:schemeClr val="tx1"/>
                </a:solidFill>
              </a:rPr>
              <a:t>ST-segment change and arrhythmia</a:t>
            </a:r>
            <a:endParaRPr lang="en-US" sz="1300" dirty="0"/>
          </a:p>
          <a:p>
            <a:pPr marL="342900" indent="-342900">
              <a:spcAft>
                <a:spcPts val="400"/>
              </a:spcAft>
              <a:buSzPct val="100000"/>
              <a:buChar char="•"/>
            </a:pPr>
            <a:r>
              <a:rPr lang="en-US" sz="1300" dirty="0">
                <a:solidFill>
                  <a:schemeClr val="tx1"/>
                </a:solidFill>
              </a:rPr>
              <a:t>Heart-rate recovery at 1 minute (12 bpm or less is abnormal)</a:t>
            </a:r>
            <a:endParaRPr lang="en-US" sz="1300" dirty="0"/>
          </a:p>
        </p:txBody>
      </p:sp>
      <p:sp>
        <p:nvSpPr>
          <p:cNvPr id="7" name="Text 4"/>
          <p:cNvSpPr txBox="1"/>
          <p:nvPr/>
        </p:nvSpPr>
        <p:spPr>
          <a:xfrm>
            <a:off x="4846320" y="3611880"/>
            <a:ext cx="3840480" cy="822960"/>
          </a:xfrm>
          <a:prstGeom prst="rect">
            <a:avLst/>
          </a:prstGeom>
          <a:noFill/>
          <a:ln/>
        </p:spPr>
        <p:txBody>
          <a:bodyPr wrap="square" lIns="0" tIns="0" rIns="0" bIns="0" rtlCol="0" anchor="t"/>
          <a:lstStyle/>
          <a:p>
            <a:pPr indent="0" marL="0">
              <a:buNone/>
            </a:pPr>
            <a:r>
              <a:rPr lang="en-US" sz="1100" dirty="0">
                <a:solidFill>
                  <a:schemeClr val="accent4"/>
                </a:solidFill>
              </a:rPr>
              <a:t>Advised for athletes over 35, with a family history of early heart disease, or with symptoms on exertion. An equivocal test is referred for echocardiography or cardiology review.</a:t>
            </a:r>
            <a:endParaRPr lang="en-US" sz="11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NT-proBNP as a personal cardiac baseline</a:t>
            </a:r>
            <a:endParaRPr lang="en-US" sz="2800" dirty="0"/>
          </a:p>
        </p:txBody>
      </p:sp>
      <p:sp>
        <p:nvSpPr>
          <p:cNvPr id="3" name="Text 1"/>
          <p:cNvSpPr txBox="1"/>
          <p:nvPr/>
        </p:nvSpPr>
        <p:spPr>
          <a:xfrm>
            <a:off x="457200" y="1097280"/>
            <a:ext cx="3840480" cy="3291840"/>
          </a:xfrm>
          <a:prstGeom prst="rect">
            <a:avLst/>
          </a:prstGeom>
          <a:noFill/>
          <a:ln/>
        </p:spPr>
        <p:txBody>
          <a:bodyPr wrap="square" lIns="0" tIns="0" rIns="0" bIns="0" rtlCol="0" anchor="t"/>
          <a:lstStyle/>
          <a:p>
            <a:pPr indent="0" marL="0">
              <a:buNone/>
            </a:pPr>
            <a:r>
              <a:rPr lang="en-US" sz="1500" b="1" dirty="0">
                <a:solidFill>
                  <a:srgbClr val="0F1A2E"/>
                </a:solidFill>
                <a:latin typeface="Arial" pitchFamily="34" charset="0"/>
                <a:ea typeface="Arial" pitchFamily="34" charset="-122"/>
                <a:cs typeface="Arial" pitchFamily="34" charset="-120"/>
              </a:rPr>
              <a:t>What it measures</a:t>
            </a:r>
            <a:endParaRPr lang="en-US" sz="1400" dirty="0"/>
          </a:p>
          <a:p>
            <a:pPr indent="0" marL="0">
              <a:buNone/>
            </a:pPr>
            <a:r>
              <a:rPr lang="en-US" sz="1400" dirty="0">
                <a:solidFill>
                  <a:srgbClr val="0F172A"/>
                </a:solidFill>
              </a:rPr>
              <a:t>A fragment released when heart muscle is stretched by pressure or volume load.</a:t>
            </a:r>
            <a:endParaRPr lang="en-US" sz="1400" dirty="0"/>
          </a:p>
          <a:p>
            <a:pPr indent="0" marL="0">
              <a:buNone/>
            </a:pPr>
            <a:r>
              <a:rPr lang="en-US" sz="600" dirty="0">
                <a:solidFill>
                  <a:srgbClr val="0F172A"/>
                </a:solidFill>
              </a:rPr>
              <a:t> </a:t>
            </a:r>
            <a:endParaRPr lang="en-US" sz="1400" dirty="0"/>
          </a:p>
          <a:p>
            <a:pPr indent="0" marL="0">
              <a:buNone/>
            </a:pPr>
            <a:r>
              <a:rPr lang="en-US" sz="1500" b="1" dirty="0">
                <a:solidFill>
                  <a:srgbClr val="0F1A2E"/>
                </a:solidFill>
                <a:latin typeface="Arial" pitchFamily="34" charset="0"/>
                <a:ea typeface="Arial" pitchFamily="34" charset="-122"/>
                <a:cs typeface="Arial" pitchFamily="34" charset="-120"/>
              </a:rPr>
              <a:t>Use in athletes</a:t>
            </a:r>
            <a:endParaRPr lang="en-US" sz="1400" dirty="0"/>
          </a:p>
          <a:p>
            <a:pPr indent="0" marL="0">
              <a:buNone/>
            </a:pPr>
            <a:r>
              <a:rPr lang="en-US" sz="1400" dirty="0">
                <a:solidFill>
                  <a:srgbClr val="0F172A"/>
                </a:solidFill>
              </a:rPr>
              <a:t>Marathons and long rides raise it for a day or more. We sample at rest, at least 24 hours after hard training, record the value as a baseline and compare it at each repeat visit.</a:t>
            </a:r>
            <a:endParaRPr lang="en-US" sz="1400" dirty="0"/>
          </a:p>
        </p:txBody>
      </p:sp>
      <p:graphicFrame>
        <p:nvGraphicFramePr>
          <p:cNvPr id="4" name="Chart 0" descr=""/>
          <p:cNvGraphicFramePr/>
          <p:nvPr/>
        </p:nvGraphicFramePr>
        <p:xfrm>
          <a:off x="4572000" y="1051560"/>
          <a:ext cx="41148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0" y="4462272"/>
            <a:ext cx="4114800" cy="274320"/>
          </a:xfrm>
          <a:prstGeom prst="rect">
            <a:avLst/>
          </a:prstGeom>
          <a:noFill/>
          <a:ln/>
        </p:spPr>
        <p:txBody>
          <a:bodyPr wrap="square" lIns="0" tIns="0" rIns="0" bIns="0" rtlCol="0" anchor="ctr"/>
          <a:lstStyle/>
          <a:p>
            <a:pPr indent="0" marL="0">
              <a:buNone/>
            </a:pPr>
            <a:r>
              <a:rPr lang="en-US" sz="1000" dirty="0">
                <a:solidFill>
                  <a:schemeClr val="accent4"/>
                </a:solidFill>
              </a:rPr>
              <a:t>Cut-offs from ESC Heart Failure Association guidance, derived in breathless patients. For reference only.</a:t>
            </a:r>
            <a:endParaRPr lang="en-US" sz="10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Apo B counts atherogenic particles</a:t>
            </a:r>
            <a:endParaRPr lang="en-US" sz="2800" dirty="0"/>
          </a:p>
        </p:txBody>
      </p:sp>
      <p:sp>
        <p:nvSpPr>
          <p:cNvPr id="3" name="Text 1"/>
          <p:cNvSpPr txBox="1"/>
          <p:nvPr/>
        </p:nvSpPr>
        <p:spPr>
          <a:xfrm>
            <a:off x="457200" y="1097280"/>
            <a:ext cx="3840480" cy="3291840"/>
          </a:xfrm>
          <a:prstGeom prst="rect">
            <a:avLst/>
          </a:prstGeom>
          <a:noFill/>
          <a:ln/>
        </p:spPr>
        <p:txBody>
          <a:bodyPr wrap="square" lIns="0" tIns="0" rIns="0" bIns="0" rtlCol="0" anchor="t"/>
          <a:lstStyle/>
          <a:p>
            <a:pPr indent="0" marL="0">
              <a:buNone/>
            </a:pPr>
            <a:r>
              <a:rPr lang="en-US" sz="1400" dirty="0">
                <a:solidFill>
                  <a:srgbClr val="0F172A"/>
                </a:solidFill>
              </a:rPr>
              <a:t>Each LDL, VLDL, IDL and Lp(a) particle carries one Apo B molecule, so Apo B is a direct particle count.</a:t>
            </a:r>
            <a:endParaRPr lang="en-US" sz="1400" dirty="0"/>
          </a:p>
          <a:p>
            <a:pPr indent="0" marL="0">
              <a:buNone/>
            </a:pPr>
            <a:r>
              <a:rPr lang="en-US" sz="600" dirty="0">
                <a:solidFill>
                  <a:srgbClr val="0F172A"/>
                </a:solidFill>
              </a:rPr>
              <a:t> </a:t>
            </a:r>
            <a:endParaRPr lang="en-US" sz="1400" dirty="0"/>
          </a:p>
          <a:p>
            <a:pPr indent="0" marL="0">
              <a:buNone/>
            </a:pPr>
            <a:r>
              <a:rPr lang="en-US" sz="1400" dirty="0">
                <a:solidFill>
                  <a:srgbClr val="0F172A"/>
                </a:solidFill>
              </a:rPr>
              <a:t>LDL cholesterol can look normal while Apo B is high. We see this with high triglycerides, insulin resistance, very low-carbohydrate diets and anabolic steroid use.</a:t>
            </a:r>
            <a:endParaRPr lang="en-US" sz="1400" dirty="0"/>
          </a:p>
          <a:p>
            <a:pPr indent="0" marL="0">
              <a:buNone/>
            </a:pPr>
            <a:r>
              <a:rPr lang="en-US" sz="600" dirty="0">
                <a:solidFill>
                  <a:srgbClr val="0F172A"/>
                </a:solidFill>
              </a:rPr>
              <a:t> </a:t>
            </a:r>
            <a:endParaRPr lang="en-US" sz="1400" dirty="0"/>
          </a:p>
          <a:p>
            <a:pPr indent="0" marL="0">
              <a:buNone/>
            </a:pPr>
            <a:r>
              <a:rPr lang="en-US" sz="1400" dirty="0">
                <a:solidFill>
                  <a:srgbClr val="0F172A"/>
                </a:solidFill>
              </a:rPr>
              <a:t>Lp(a) is largely inherited. It is measured once in adult life and is included with the first Apo B test.</a:t>
            </a:r>
            <a:endParaRPr lang="en-US" sz="1400" dirty="0"/>
          </a:p>
        </p:txBody>
      </p:sp>
      <p:graphicFrame>
        <p:nvGraphicFramePr>
          <p:cNvPr id="4" name="Chart 0" descr=""/>
          <p:cNvGraphicFramePr/>
          <p:nvPr/>
        </p:nvGraphicFramePr>
        <p:xfrm>
          <a:off x="4572000" y="1051560"/>
          <a:ext cx="41148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0" y="4462272"/>
            <a:ext cx="4114800" cy="274320"/>
          </a:xfrm>
          <a:prstGeom prst="rect">
            <a:avLst/>
          </a:prstGeom>
          <a:noFill/>
          <a:ln/>
        </p:spPr>
        <p:txBody>
          <a:bodyPr wrap="square" lIns="0" tIns="0" rIns="0" bIns="0" rtlCol="0" anchor="ctr"/>
          <a:lstStyle/>
          <a:p>
            <a:pPr indent="0" marL="0">
              <a:buNone/>
            </a:pPr>
            <a:r>
              <a:rPr lang="en-US" sz="1000" dirty="0">
                <a:solidFill>
                  <a:schemeClr val="accent4"/>
                </a:solidFill>
              </a:rPr>
              <a:t>Goals from ESC/EAS 2019 dyslipidaemia guidelines. The physician assigns the risk category.</a:t>
            </a:r>
            <a:endParaRPr lang="en-US" sz="10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Muscle damage and recovery markers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2880360"/>
                <a:gridCol w="3429000"/>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Marker</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it reflects</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we read it in athletes</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CK (CPK), total</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Leak from damaged muscle fibres; peaks 24 to 72 h after eccentric or unfamiliar work</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Judged against athlete ranges. Above 5 times the upper limit with weakness or dark urine needs same-day review</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CK-MB</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Cardiac isoform, also present in regenerating skeletal muscle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 raised CK-MB with very high total CK is usually skeletal; troponin settles the question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hs-troponin I or 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Specific to heart muscle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Can rise briefly after endurance events. A rise at rest goes to cardiology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Myoglobin, serum and urine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Early marker, rises within hours of muscle injury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Myoglobin in urine with high CK signals risk to the kidneys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LDH</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Muscle, red cells, liver</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Supports CK. Foot-strike haemolysis in runners also raises it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AST, ALT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Found in muscle as well as liver</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CK is checked before a raised AST or ALT is called liver injury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Creatinine with cystatin C</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Creatinine tracks muscle mass and creatine intake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Cystatin C gives a truer kidney function in muscular people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Potassium, phosphate, uric acid</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Released when muscle breaks down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Checked when CK is markedly raised</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Hormones and blood in strength athletes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017520"/>
                <a:gridCol w="5212080"/>
              </a:tblGrid>
              <a:tr h="347472">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Marker</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Why it is measured</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Haemoglobin, haematocrit, reticulocytes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Androgens can push haematocrit up and thicken the blood. Endurance athletes may run low iron stores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Testosterone (total, free), LH, FSH</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Shows suppression of the body's own production and its recovery after a cycle stops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SHBG, oestradiol, prolactin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Needed to interpret testosterone; oestradiol and prolactin explain many side effects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Cortisol (8 am), testosterone:cortisol</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Read with training load as a guide to under-recovery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IGF-1</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Growth-hormone axis; also raised by high protein intake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TSH, free T4</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Thyroid function affects weight, energy and heart rate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GGT, bilirubin, ALT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Oral steroids and some supplements stress the liver</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0F172A"/>
                          </a:solidFill>
                          <a:latin typeface="Arial" pitchFamily="34" charset="0"/>
                          <a:ea typeface="Arial" pitchFamily="34" charset="-122"/>
                          <a:cs typeface="Arial" pitchFamily="34" charset="-120"/>
                        </a:rPr>
                        <a:t>Oestradiol, LH, FSH, ferritin in women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Low energy availability (RED-S) disturbs menstrual hormones and bone health</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dirty="0">
                <a:solidFill>
                  <a:schemeClr val="accent1"/>
                </a:solidFill>
              </a:rPr>
              <a:t>Results are confidential. Telling us about supplements or enhancers helps the physician interpret them correctly.</a:t>
            </a:r>
            <a:endParaRPr lang="en-US" sz="12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Markers linked to long-term health</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017520"/>
                <a:gridCol w="521208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Marker</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it adds</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Fitness in METs, from the TMT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Lower fitness carried about 5 times the mortality of elite fitness in 122,007 treadmill patients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Apo B and Lp(a)</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Lifetime artery risk; Lp(a) is genetic and measured once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hs-CRP</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Low-grade inflammation. Repeated if raised by recent hard training or infection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HbA1c, fasting glucose, fasting insulin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HOMA-IR shows insulin resistance years before diabetes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Homocysteine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Linked to vascular risk; often reflects low B12 or folate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Uric acid</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Associated with high blood pressure, gout and metabolic syndrome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Cystatin C eGFR, urine albumin:creatinine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Early kidney and small-vessel damage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172A"/>
                          </a:solidFill>
                          <a:latin typeface="Arial" pitchFamily="34" charset="0"/>
                          <a:ea typeface="Arial" pitchFamily="34" charset="-122"/>
                          <a:cs typeface="Arial" pitchFamily="34" charset="-120"/>
                        </a:rPr>
                        <a:t>Vitamin D, B12, ferritin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Deficiencies are common in India and affect bone, nerves and energy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Fitness data: Mandsager K et al. JAMA Netw Open 2018;1(6):e183605. Hazard ratio 5.04, low vs elite fitness.</a:t>
            </a:r>
            <a:endParaRPr lang="en-US" sz="10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Ultrasound of tendons and ligaments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572000" cy="914400"/>
        </p:xfrm>
        <a:graphic>
          <a:graphicData uri="http://schemas.openxmlformats.org/drawingml/2006/table">
            <a:tbl>
              <a:tblPr/>
              <a:tblGrid>
                <a:gridCol w="1280160"/>
                <a:gridCol w="329184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Region</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Structures examined</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Shoulder</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Rotator cuff, long head of biceps, subacromial bursa</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Elbow</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Common extensor and flexor origins, distal biceps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Hip and groin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Gluteal tendons, adductor origin, iliopsoas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Knee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Patellar and quadriceps tendons, MCL, LCL</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172A"/>
                          </a:solidFill>
                          <a:latin typeface="Arial" pitchFamily="34" charset="0"/>
                          <a:ea typeface="Arial" pitchFamily="34" charset="-122"/>
                          <a:cs typeface="Arial" pitchFamily="34" charset="-120"/>
                        </a:rPr>
                        <a:t>Ankle and foot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Achilles, ATFL, peroneal tendons, plantar fascia</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394960" y="1051560"/>
            <a:ext cx="3291840" cy="292608"/>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Findings reported</a:t>
            </a:r>
            <a:endParaRPr lang="en-US" sz="1500" dirty="0"/>
          </a:p>
        </p:txBody>
      </p:sp>
      <p:sp>
        <p:nvSpPr>
          <p:cNvPr id="5" name="Text 2"/>
          <p:cNvSpPr txBox="1"/>
          <p:nvPr/>
        </p:nvSpPr>
        <p:spPr>
          <a:xfrm>
            <a:off x="5394960" y="1417320"/>
            <a:ext cx="3291840" cy="2377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Tendon thickness compared with the other side</a:t>
            </a:r>
            <a:endParaRPr lang="en-US" sz="1300" dirty="0"/>
          </a:p>
          <a:p>
            <a:pPr marL="342900" indent="-342900">
              <a:spcAft>
                <a:spcPts val="400"/>
              </a:spcAft>
              <a:buSzPct val="100000"/>
              <a:buChar char="•"/>
            </a:pPr>
            <a:r>
              <a:rPr lang="en-US" sz="1300" dirty="0">
                <a:solidFill>
                  <a:schemeClr val="tx1"/>
                </a:solidFill>
              </a:rPr>
              <a:t>Hypoechoic areas and loss of fibre pattern</a:t>
            </a:r>
            <a:endParaRPr lang="en-US" sz="1300" dirty="0"/>
          </a:p>
          <a:p>
            <a:pPr marL="342900" indent="-342900">
              <a:spcAft>
                <a:spcPts val="400"/>
              </a:spcAft>
              <a:buSzPct val="100000"/>
              <a:buChar char="•"/>
            </a:pPr>
            <a:r>
              <a:rPr lang="en-US" sz="1300" dirty="0">
                <a:solidFill>
                  <a:schemeClr val="tx1"/>
                </a:solidFill>
              </a:rPr>
              <a:t>New vessels on Doppler (neovascularity)</a:t>
            </a:r>
            <a:endParaRPr lang="en-US" sz="1300" dirty="0"/>
          </a:p>
          <a:p>
            <a:pPr marL="342900" indent="-342900">
              <a:spcAft>
                <a:spcPts val="400"/>
              </a:spcAft>
              <a:buSzPct val="100000"/>
              <a:buChar char="•"/>
            </a:pPr>
            <a:r>
              <a:rPr lang="en-US" sz="1300" dirty="0">
                <a:solidFill>
                  <a:schemeClr val="tx1"/>
                </a:solidFill>
              </a:rPr>
              <a:t>Partial tears and calcific deposits</a:t>
            </a:r>
            <a:endParaRPr lang="en-US" sz="1300" dirty="0"/>
          </a:p>
          <a:p>
            <a:pPr marL="342900" indent="-342900">
              <a:spcAft>
                <a:spcPts val="400"/>
              </a:spcAft>
              <a:buSzPct val="100000"/>
              <a:buChar char="•"/>
            </a:pPr>
            <a:r>
              <a:rPr lang="en-US" sz="1300" dirty="0">
                <a:solidFill>
                  <a:schemeClr val="tx1"/>
                </a:solidFill>
              </a:rPr>
              <a:t>Bursal fluid</a:t>
            </a:r>
            <a:endParaRPr lang="en-US" sz="1300" dirty="0"/>
          </a:p>
          <a:p>
            <a:pPr marL="342900" indent="-342900">
              <a:spcAft>
                <a:spcPts val="400"/>
              </a:spcAft>
              <a:buSzPct val="100000"/>
              <a:buChar char="•"/>
            </a:pPr>
            <a:r>
              <a:rPr lang="en-US" sz="1300" dirty="0">
                <a:solidFill>
                  <a:schemeClr val="tx1"/>
                </a:solidFill>
              </a:rPr>
              <a:t>Ligament gapping on stress views</a:t>
            </a:r>
            <a:endParaRPr lang="en-US" sz="1300" dirty="0"/>
          </a:p>
        </p:txBody>
      </p:sp>
      <p:sp>
        <p:nvSpPr>
          <p:cNvPr id="6" name="Text 3"/>
          <p:cNvSpPr txBox="1"/>
          <p:nvPr/>
        </p:nvSpPr>
        <p:spPr>
          <a:xfrm>
            <a:off x="5394960" y="3657600"/>
            <a:ext cx="3291840" cy="822960"/>
          </a:xfrm>
          <a:prstGeom prst="rect">
            <a:avLst/>
          </a:prstGeom>
          <a:noFill/>
          <a:ln/>
        </p:spPr>
        <p:txBody>
          <a:bodyPr wrap="square" lIns="0" tIns="0" rIns="0" bIns="0" rtlCol="0" anchor="t"/>
          <a:lstStyle/>
          <a:p>
            <a:pPr indent="0" marL="0">
              <a:buNone/>
            </a:pPr>
            <a:r>
              <a:rPr lang="en-US" sz="1100" dirty="0">
                <a:solidFill>
                  <a:schemeClr val="accent4"/>
                </a:solidFill>
              </a:rPr>
              <a:t>Performed and reported by a radiologist trained in musculoskeletal ultrasound. High-frequency linear probe, no radiation. The first scan is the baseline for return-to-play decisions.</a:t>
            </a:r>
            <a:endParaRPr lang="en-US" sz="11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How official doping control works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937760" cy="914400"/>
        </p:xfrm>
        <a:graphic>
          <a:graphicData uri="http://schemas.openxmlformats.org/drawingml/2006/table">
            <a:tbl>
              <a:tblPr/>
              <a:tblGrid>
                <a:gridCol w="1143000"/>
                <a:gridCol w="3794760"/>
              </a:tblGrid>
              <a:tr h="2743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When banned</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WADA Prohibited List class, 2026</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1325880">
                <a:tc>
                  <a:txBody>
                    <a:bodyPr/>
                    <a:lstStyle/>
                    <a:p>
                      <a:pPr indent="0" marL="0">
                        <a:buNone/>
                      </a:pPr>
                      <a:r>
                        <a:rPr lang="en-US" sz="1100" b="1" dirty="0">
                          <a:solidFill>
                            <a:srgbClr val="0F1A2E"/>
                          </a:solidFill>
                          <a:latin typeface="Arial" pitchFamily="34" charset="0"/>
                          <a:ea typeface="Arial" pitchFamily="34" charset="-122"/>
                          <a:cs typeface="Arial" pitchFamily="34" charset="-120"/>
                        </a:rPr>
                        <a:t>At all times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EFF5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S0 non-approved substances, S1 anabolic agents, S2 peptide hormones and growth factors (EPO, hGH), S3 beta-2 agonists, S4 hormone and metabolic modulators, S5 diuretics and masking agents, M1 blood manipulation, M2 chemical and physical manipulation, M3 gene and cell doping</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0F1A2E"/>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EFF5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S6 stimulants, S7 narcotics (tramadol since 2024), S8 cannabinoids (CBD excepted), S9 glucocorticoids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0F1A2E"/>
                          </a:solidFill>
                          <a:latin typeface="Arial" pitchFamily="34" charset="0"/>
                          <a:ea typeface="Arial" pitchFamily="34" charset="-122"/>
                          <a:cs typeface="Arial" pitchFamily="34" charset="-120"/>
                        </a:rPr>
                        <a:t>In some sports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EFF5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P1 beta-blockers, for example archery, shooting and golf</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669280" y="1051560"/>
            <a:ext cx="3017520" cy="292608"/>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Who tests and how</a:t>
            </a:r>
            <a:endParaRPr lang="en-US" sz="1500" dirty="0"/>
          </a:p>
        </p:txBody>
      </p:sp>
      <p:sp>
        <p:nvSpPr>
          <p:cNvPr id="5" name="Text 2"/>
          <p:cNvSpPr txBox="1"/>
          <p:nvPr/>
        </p:nvSpPr>
        <p:spPr>
          <a:xfrm>
            <a:off x="5669280" y="1417320"/>
            <a:ext cx="3017520" cy="30175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NADA India tests Indian athletes; the International Testing Agency runs testing at the Olympic Games</a:t>
            </a:r>
            <a:endParaRPr lang="en-US" sz="1150" dirty="0"/>
          </a:p>
          <a:p>
            <a:pPr marL="342900" indent="-342900">
              <a:spcAft>
                <a:spcPts val="400"/>
              </a:spcAft>
              <a:buSzPct val="100000"/>
              <a:buChar char="•"/>
            </a:pPr>
            <a:r>
              <a:rPr lang="en-US" sz="1150" dirty="0">
                <a:solidFill>
                  <a:schemeClr val="tx1"/>
                </a:solidFill>
              </a:rPr>
              <a:t>Urine (at least 90 mL) and blood, split into A and B samples</a:t>
            </a:r>
            <a:endParaRPr lang="en-US" sz="1150" dirty="0"/>
          </a:p>
          <a:p>
            <a:pPr marL="342900" indent="-342900">
              <a:spcAft>
                <a:spcPts val="400"/>
              </a:spcAft>
              <a:buSzPct val="100000"/>
              <a:buChar char="•"/>
            </a:pPr>
            <a:r>
              <a:rPr lang="en-US" sz="1150" dirty="0">
                <a:solidFill>
                  <a:schemeClr val="tx1"/>
                </a:solidFill>
              </a:rPr>
              <a:t>Analysed only at WADA-accredited laboratories; in India, NDTL New Delhi</a:t>
            </a:r>
            <a:endParaRPr lang="en-US" sz="1150" dirty="0"/>
          </a:p>
          <a:p>
            <a:pPr marL="342900" indent="-342900">
              <a:spcAft>
                <a:spcPts val="400"/>
              </a:spcAft>
              <a:buSzPct val="100000"/>
              <a:buChar char="•"/>
            </a:pPr>
            <a:r>
              <a:rPr lang="en-US" sz="1150" dirty="0">
                <a:solidFill>
                  <a:schemeClr val="tx1"/>
                </a:solidFill>
              </a:rPr>
              <a:t>Athlete Biological Passport tracks blood, steroid and growth-hormone markers over time</a:t>
            </a:r>
            <a:endParaRPr lang="en-US" sz="1150" dirty="0"/>
          </a:p>
          <a:p>
            <a:pPr marL="342900" indent="-342900">
              <a:spcAft>
                <a:spcPts val="400"/>
              </a:spcAft>
              <a:buSzPct val="100000"/>
              <a:buChar char="•"/>
            </a:pPr>
            <a:r>
              <a:rPr lang="en-US" sz="1150" dirty="0">
                <a:solidFill>
                  <a:schemeClr val="tx1"/>
                </a:solidFill>
              </a:rPr>
              <a:t>Olympic samples may be stored and re-tested for up to 10 years</a:t>
            </a:r>
            <a:endParaRPr lang="en-US" sz="1150" dirty="0"/>
          </a:p>
        </p:txBody>
      </p:sp>
      <p:sp>
        <p:nvSpPr>
          <p:cNvPr id="6" name="Text 3"/>
          <p:cNvSpPr txBox="1"/>
          <p:nvPr/>
        </p:nvSpPr>
        <p:spPr>
          <a:xfrm>
            <a:off x="457200" y="4343400"/>
            <a:ext cx="4937760" cy="274320"/>
          </a:xfrm>
          <a:prstGeom prst="rect">
            <a:avLst/>
          </a:prstGeom>
          <a:noFill/>
          <a:ln/>
        </p:spPr>
        <p:txBody>
          <a:bodyPr wrap="square" lIns="0" tIns="0" rIns="0" bIns="0" rtlCol="0" anchor="ctr"/>
          <a:lstStyle/>
          <a:p>
            <a:pPr indent="0" marL="0">
              <a:buNone/>
            </a:pPr>
            <a:r>
              <a:rPr lang="en-US" sz="1200" b="1" dirty="0">
                <a:solidFill>
                  <a:schemeClr val="accent2"/>
                </a:solidFill>
              </a:rPr>
              <a:t>Dhruv Diagnostics does not carry out doping control and cannot certify an athlete as clean.</a:t>
            </a:r>
            <a:endParaRPr lang="en-US" sz="12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Urine drug screen and WADA status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2103120"/>
                <a:gridCol w="1188720"/>
                <a:gridCol w="265176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Drug group screened</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WADA class</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Banned</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Note</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Amphetamine, methamphetamine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S6 stimulants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MDMA (ecstasy)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S6; substance of abuse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Cocaine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S6; substance of abuse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Screen detects benzoylecgonine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Cannabinoids (THC)</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S8; THC is a substance of abuse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CBD alone is allowed; CBD products can contain THC</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Opiates (morphine)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S7 narcotics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Screen also reacts to codeine, which is not banned</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Tramadol</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S7 narcotics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Banned since 1 January 2024</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Methadone, buprenorphine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S7 narcotics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In competition</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F172A"/>
                          </a:solidFill>
                          <a:latin typeface="Arial" pitchFamily="34" charset="0"/>
                          <a:ea typeface="Arial" pitchFamily="34" charset="-122"/>
                          <a:cs typeface="Arial" pitchFamily="34" charset="-120"/>
                        </a:rPr>
                        <a:t>Benzodiazepines, barbiturates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Not on the List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Relevant to health and safety only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100" dirty="0">
                <a:solidFill>
                  <a:schemeClr val="accent4"/>
                </a:solidFill>
              </a:rPr>
              <a:t>Immunoassay is a screen. A positive result needs confirmation by GC-MS or LC-MS/MS. This screen is for clinical and personal use and is not a doping test.</a:t>
            </a:r>
            <a:endParaRPr lang="en-US" sz="11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Recovery Club for women members</a:t>
            </a:r>
            <a:endParaRPr lang="en-US" sz="2800" dirty="0"/>
          </a:p>
        </p:txBody>
      </p:sp>
      <p:sp>
        <p:nvSpPr>
          <p:cNvPr id="3" name="Text 1"/>
          <p:cNvSpPr txBox="1"/>
          <p:nvPr/>
        </p:nvSpPr>
        <p:spPr>
          <a:xfrm>
            <a:off x="457200" y="960120"/>
            <a:ext cx="8229600" cy="274320"/>
          </a:xfrm>
          <a:prstGeom prst="rect">
            <a:avLst/>
          </a:prstGeom>
          <a:noFill/>
          <a:ln/>
        </p:spPr>
        <p:txBody>
          <a:bodyPr wrap="square" lIns="0" tIns="0" rIns="0" bIns="0" rtlCol="0" anchor="ctr"/>
          <a:lstStyle/>
          <a:p>
            <a:pPr indent="0" marL="0">
              <a:buNone/>
            </a:pPr>
            <a:r>
              <a:rPr lang="en-US" sz="1300" b="1" dirty="0">
                <a:solidFill>
                  <a:schemeClr val="accent2"/>
                </a:solidFill>
              </a:rPr>
              <a:t>Open to women members only at present. Men's access has not opened yet.</a:t>
            </a:r>
            <a:endParaRPr lang="en-US" sz="1300" dirty="0"/>
          </a:p>
        </p:txBody>
      </p:sp>
      <p:sp>
        <p:nvSpPr>
          <p:cNvPr id="4" name="Shape 2"/>
          <p:cNvSpPr/>
          <p:nvPr/>
        </p:nvSpPr>
        <p:spPr>
          <a:xfrm>
            <a:off x="457200" y="1417320"/>
            <a:ext cx="2606040" cy="1600200"/>
          </a:xfrm>
          <a:prstGeom prst="rect">
            <a:avLst/>
          </a:prstGeom>
          <a:solidFill>
            <a:schemeClr val="bg2"/>
          </a:solidFill>
          <a:ln w="12700">
            <a:solidFill>
              <a:schemeClr val="bg2"/>
            </a:solidFill>
            <a:prstDash val="solid"/>
          </a:ln>
        </p:spPr>
      </p:sp>
      <p:sp>
        <p:nvSpPr>
          <p:cNvPr id="5" name="Text 3"/>
          <p:cNvSpPr txBox="1"/>
          <p:nvPr/>
        </p:nvSpPr>
        <p:spPr>
          <a:xfrm>
            <a:off x="640080" y="1554480"/>
            <a:ext cx="2240280" cy="292608"/>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Sauna</a:t>
            </a:r>
            <a:endParaRPr lang="en-US" sz="1500" dirty="0"/>
          </a:p>
        </p:txBody>
      </p:sp>
      <p:sp>
        <p:nvSpPr>
          <p:cNvPr id="6" name="Text 4"/>
          <p:cNvSpPr txBox="1"/>
          <p:nvPr/>
        </p:nvSpPr>
        <p:spPr>
          <a:xfrm>
            <a:off x="640080" y="1920240"/>
            <a:ext cx="2240280" cy="1005840"/>
          </a:xfrm>
          <a:prstGeom prst="rect">
            <a:avLst/>
          </a:prstGeom>
          <a:noFill/>
          <a:ln/>
        </p:spPr>
        <p:txBody>
          <a:bodyPr wrap="square" lIns="0" tIns="0" rIns="0" bIns="0" rtlCol="0" anchor="t"/>
          <a:lstStyle/>
          <a:p>
            <a:pPr indent="0" marL="0">
              <a:buNone/>
            </a:pPr>
            <a:r>
              <a:rPr lang="en-US" sz="1300" dirty="0">
                <a:solidFill>
                  <a:schemeClr val="tx1"/>
                </a:solidFill>
              </a:rPr>
              <a:t>Dry heat after training. Opened to a member once her blood pressure and ECG or TMT have been reviewed.</a:t>
            </a:r>
            <a:endParaRPr lang="en-US" sz="1300" dirty="0"/>
          </a:p>
        </p:txBody>
      </p:sp>
      <p:sp>
        <p:nvSpPr>
          <p:cNvPr id="7" name="Shape 5"/>
          <p:cNvSpPr/>
          <p:nvPr/>
        </p:nvSpPr>
        <p:spPr>
          <a:xfrm>
            <a:off x="3246120" y="1417320"/>
            <a:ext cx="2606040" cy="1600200"/>
          </a:xfrm>
          <a:prstGeom prst="rect">
            <a:avLst/>
          </a:prstGeom>
          <a:solidFill>
            <a:schemeClr val="bg2"/>
          </a:solidFill>
          <a:ln w="12700">
            <a:solidFill>
              <a:schemeClr val="bg2"/>
            </a:solidFill>
            <a:prstDash val="solid"/>
          </a:ln>
        </p:spPr>
      </p:sp>
      <p:sp>
        <p:nvSpPr>
          <p:cNvPr id="8" name="Text 6"/>
          <p:cNvSpPr txBox="1"/>
          <p:nvPr/>
        </p:nvSpPr>
        <p:spPr>
          <a:xfrm>
            <a:off x="3429000" y="1554480"/>
            <a:ext cx="2240280" cy="292608"/>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Spa</a:t>
            </a:r>
            <a:endParaRPr lang="en-US" sz="1500" dirty="0"/>
          </a:p>
        </p:txBody>
      </p:sp>
      <p:sp>
        <p:nvSpPr>
          <p:cNvPr id="9" name="Text 7"/>
          <p:cNvSpPr txBox="1"/>
          <p:nvPr/>
        </p:nvSpPr>
        <p:spPr>
          <a:xfrm>
            <a:off x="3429000" y="1920240"/>
            <a:ext cx="2240280" cy="1005840"/>
          </a:xfrm>
          <a:prstGeom prst="rect">
            <a:avLst/>
          </a:prstGeom>
          <a:noFill/>
          <a:ln/>
        </p:spPr>
        <p:txBody>
          <a:bodyPr wrap="square" lIns="0" tIns="0" rIns="0" bIns="0" rtlCol="0" anchor="t"/>
          <a:lstStyle/>
          <a:p>
            <a:pPr indent="0" marL="0">
              <a:buNone/>
            </a:pPr>
            <a:r>
              <a:rPr lang="en-US" sz="1300" dirty="0">
                <a:solidFill>
                  <a:schemeClr val="tx1"/>
                </a:solidFill>
              </a:rPr>
              <a:t>Massage and hydrotherapy between sessions to ease muscle soreness and stiffness.</a:t>
            </a:r>
            <a:endParaRPr lang="en-US" sz="1300" dirty="0"/>
          </a:p>
        </p:txBody>
      </p:sp>
      <p:sp>
        <p:nvSpPr>
          <p:cNvPr id="10" name="Shape 8"/>
          <p:cNvSpPr/>
          <p:nvPr/>
        </p:nvSpPr>
        <p:spPr>
          <a:xfrm>
            <a:off x="6035040" y="1417320"/>
            <a:ext cx="2606040" cy="1600200"/>
          </a:xfrm>
          <a:prstGeom prst="rect">
            <a:avLst/>
          </a:prstGeom>
          <a:solidFill>
            <a:schemeClr val="bg2"/>
          </a:solidFill>
          <a:ln w="12700">
            <a:solidFill>
              <a:schemeClr val="bg2"/>
            </a:solidFill>
            <a:prstDash val="solid"/>
          </a:ln>
        </p:spPr>
      </p:sp>
      <p:sp>
        <p:nvSpPr>
          <p:cNvPr id="11" name="Text 9"/>
          <p:cNvSpPr txBox="1"/>
          <p:nvPr/>
        </p:nvSpPr>
        <p:spPr>
          <a:xfrm>
            <a:off x="6217920" y="1554480"/>
            <a:ext cx="2240280" cy="292608"/>
          </a:xfrm>
          <a:prstGeom prst="rect">
            <a:avLst/>
          </a:prstGeom>
          <a:noFill/>
          <a:ln/>
        </p:spPr>
        <p:txBody>
          <a:bodyPr wrap="square" lIns="0" tIns="0" rIns="0" bIns="0" rtlCol="0" anchor="ctr"/>
          <a:lstStyle/>
          <a:p>
            <a:pPr indent="0" marL="0">
              <a:buNone/>
            </a:pPr>
            <a:r>
              <a:rPr lang="en-US" sz="1500" b="1" dirty="0">
                <a:solidFill>
                  <a:schemeClr val="tx2"/>
                </a:solidFill>
                <a:latin typeface="Arial" pitchFamily="34" charset="0"/>
                <a:ea typeface="Arial" pitchFamily="34" charset="-122"/>
                <a:cs typeface="Arial" pitchFamily="34" charset="-120"/>
              </a:rPr>
              <a:t>Health club</a:t>
            </a:r>
            <a:endParaRPr lang="en-US" sz="1500" dirty="0"/>
          </a:p>
        </p:txBody>
      </p:sp>
      <p:sp>
        <p:nvSpPr>
          <p:cNvPr id="12" name="Text 10"/>
          <p:cNvSpPr txBox="1"/>
          <p:nvPr/>
        </p:nvSpPr>
        <p:spPr>
          <a:xfrm>
            <a:off x="6217920" y="1920240"/>
            <a:ext cx="2240280" cy="1005840"/>
          </a:xfrm>
          <a:prstGeom prst="rect">
            <a:avLst/>
          </a:prstGeom>
          <a:noFill/>
          <a:ln/>
        </p:spPr>
        <p:txBody>
          <a:bodyPr wrap="square" lIns="0" tIns="0" rIns="0" bIns="0" rtlCol="0" anchor="t"/>
          <a:lstStyle/>
          <a:p>
            <a:pPr indent="0" marL="0">
              <a:buNone/>
            </a:pPr>
            <a:r>
              <a:rPr lang="en-US" sz="1300" dirty="0">
                <a:solidFill>
                  <a:schemeClr val="tx1"/>
                </a:solidFill>
              </a:rPr>
              <a:t>Supervised strength, conditioning and mobility work planned around the check-up findings.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8229600" cy="914400"/>
        </p:xfrm>
        <a:graphic>
          <a:graphicData uri="http://schemas.openxmlformats.org/drawingml/2006/table">
            <a:tbl>
              <a:tblPr/>
              <a:tblGrid>
                <a:gridCol w="4114800"/>
                <a:gridCol w="4114800"/>
              </a:tblGrid>
              <a:tr h="2743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Sauna not advised with</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Precautions for every member</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548640">
                <a:tc>
                  <a:txBody>
                    <a:bodyPr/>
                    <a:lstStyle/>
                    <a:p>
                      <a:pPr indent="0" marL="0">
                        <a:buNone/>
                      </a:pPr>
                      <a:r>
                        <a:rPr lang="en-US" sz="1100" dirty="0">
                          <a:solidFill>
                            <a:srgbClr val="0F172A"/>
                          </a:solidFill>
                          <a:latin typeface="Arial" pitchFamily="34" charset="0"/>
                          <a:ea typeface="Arial" pitchFamily="34" charset="-122"/>
                          <a:cs typeface="Arial" pitchFamily="34" charset="-120"/>
                        </a:rPr>
                        <a:t>Pregnancy, uncontrolled high blood pressure, recent heart event, fever or acute illness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Water and electrolytes before and after; no alcohol; leave at any dizziness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Preparing for the visit</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657600"/>
                <a:gridCol w="1828800"/>
                <a:gridCol w="2743200"/>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Instruction</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Timing</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Protects the result of</a:t>
                      </a:r>
                      <a:endParaRPr lang="en-US" sz="12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0F1A2E"/>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Overnight fast, water allowed</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10 to 12 h</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Glucose, insulin, lipids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No hard, eccentric or very long training</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48 to 72 h before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CK, myoglobin, AST, ALT, troponin, NT-proBNP</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Blood drawn early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8 to 10 am</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Testosterone, cortisol</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Stop high-dose biotin (hair and skin supplements)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72 h before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Thyroid, hormone and troponin immunoassays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Tell us about creatine use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At booking</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Creatinine (cystatin C is added)</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Bring a list of medicines, supplements and any TUE</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On the day</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Hormone panel, drug screen, physician review</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Arial" pitchFamily="34" charset="0"/>
                          <a:ea typeface="Arial" pitchFamily="34" charset="-122"/>
                          <a:cs typeface="Arial" pitchFamily="34" charset="-120"/>
                        </a:rPr>
                        <a:t>Light breakfast after the blood draw; wear running shoes</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TMT at least 2 h after eating</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Treadmill stress test</a:t>
                      </a:r>
                      <a:endParaRPr lang="en-US" sz="1100" dirty="0">
                        <a:latin typeface="Arial" charset="0"/>
                        <a:ea typeface="Arial" charset="0"/>
                        <a:cs typeface="Arial" charset="0"/>
                      </a:endParaRPr>
                    </a:p>
                  </a:txBody>
                  <a:tcPr marL="73152" marR="73152" marT="27432" marB="27432" anchor="ctr">
                    <a:lnL w="6350" cap="flat" cmpd="sng" algn="ctr">
                      <a:solidFill>
                        <a:srgbClr val="D6E0EE"/>
                      </a:solidFill>
                      <a:prstDash val="solid"/>
                      <a:round/>
                      <a:headEnd type="none" w="med" len="med"/>
                      <a:tailEnd type="none" w="med" len="med"/>
                    </a:lnL>
                    <a:lnR w="6350" cap="flat" cmpd="sng" algn="ctr">
                      <a:solidFill>
                        <a:srgbClr val="D6E0EE"/>
                      </a:solidFill>
                      <a:prstDash val="solid"/>
                      <a:round/>
                      <a:headEnd type="none" w="med" len="med"/>
                      <a:tailEnd type="none" w="med" len="med"/>
                    </a:lnR>
                    <a:lnT w="6350" cap="flat" cmpd="sng" algn="ctr">
                      <a:solidFill>
                        <a:srgbClr val="D6E0EE"/>
                      </a:solidFill>
                      <a:prstDash val="solid"/>
                      <a:round/>
                      <a:headEnd type="none" w="med" len="med"/>
                      <a:tailEnd type="none" w="med" len="med"/>
                    </a:lnT>
                    <a:lnB w="6350" cap="flat" cmpd="sng" algn="ctr">
                      <a:solidFill>
                        <a:srgbClr val="D6E0E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dirty="0">
                <a:solidFill>
                  <a:schemeClr val="accent1"/>
                </a:solidFill>
              </a:rPr>
              <a:t>Repeat every 6 to 12 months so results can be compared with the athlete's own baseline.</a:t>
            </a:r>
            <a:endParaRPr lang="en-US" sz="12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Arial" pitchFamily="34" charset="0"/>
                <a:ea typeface="Arial" pitchFamily="34" charset="-122"/>
                <a:cs typeface="Arial" pitchFamily="34" charset="-120"/>
              </a:rPr>
              <a:t>Sources</a:t>
            </a:r>
            <a:endParaRPr lang="en-US" sz="2800" dirty="0"/>
          </a:p>
        </p:txBody>
      </p:sp>
      <p:sp>
        <p:nvSpPr>
          <p:cNvPr id="3" name="Text 1"/>
          <p:cNvSpPr txBox="1"/>
          <p:nvPr/>
        </p:nvSpPr>
        <p:spPr>
          <a:xfrm>
            <a:off x="457200" y="1051560"/>
            <a:ext cx="8229600" cy="30175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chemeClr val="tx1"/>
                </a:solidFill>
              </a:rPr>
              <a:t>World Anti-Doping Agency. 2026 Prohibited List, in force 1 January 2026.</a:t>
            </a:r>
            <a:endParaRPr lang="en-US" sz="1100" dirty="0"/>
          </a:p>
          <a:p>
            <a:pPr marL="342900" indent="-342900">
              <a:spcAft>
                <a:spcPts val="400"/>
              </a:spcAft>
              <a:buSzPct val="100000"/>
              <a:buFont typeface="+mj-lt"/>
              <a:buAutoNum type="arabicPeriod" startAt="1"/>
            </a:pPr>
            <a:r>
              <a:rPr lang="en-US" sz="1100" dirty="0">
                <a:solidFill>
                  <a:schemeClr val="tx1"/>
                </a:solidFill>
              </a:rPr>
              <a:t>World Anti-Doping Agency. Athlete Biological Passport Operating Guidelines.</a:t>
            </a:r>
            <a:endParaRPr lang="en-US" sz="1100" dirty="0"/>
          </a:p>
          <a:p>
            <a:pPr marL="342900" indent="-342900">
              <a:spcAft>
                <a:spcPts val="400"/>
              </a:spcAft>
              <a:buSzPct val="100000"/>
              <a:buFont typeface="+mj-lt"/>
              <a:buAutoNum type="arabicPeriod" startAt="1"/>
            </a:pPr>
            <a:r>
              <a:rPr lang="en-US" sz="1100" dirty="0">
                <a:solidFill>
                  <a:schemeClr val="tx1"/>
                </a:solidFill>
              </a:rPr>
              <a:t>Mougios V. Reference intervals for serum creatine kinase in athletes. Br J Sports Med 2007;41:674-678.</a:t>
            </a:r>
            <a:endParaRPr lang="en-US" sz="1100" dirty="0"/>
          </a:p>
          <a:p>
            <a:pPr marL="342900" indent="-342900">
              <a:spcAft>
                <a:spcPts val="400"/>
              </a:spcAft>
              <a:buSzPct val="100000"/>
              <a:buFont typeface="+mj-lt"/>
              <a:buAutoNum type="arabicPeriod" startAt="1"/>
            </a:pPr>
            <a:r>
              <a:rPr lang="en-US" sz="1100" dirty="0">
                <a:solidFill>
                  <a:schemeClr val="tx1"/>
                </a:solidFill>
              </a:rPr>
              <a:t>Mandsager K et al. Cardiorespiratory fitness and long-term mortality among adults undergoing exercise treadmill testing. JAMA Netw Open 2018;1(6):e183605.</a:t>
            </a:r>
            <a:endParaRPr lang="en-US" sz="1100" dirty="0"/>
          </a:p>
          <a:p>
            <a:pPr marL="342900" indent="-342900">
              <a:spcAft>
                <a:spcPts val="400"/>
              </a:spcAft>
              <a:buSzPct val="100000"/>
              <a:buFont typeface="+mj-lt"/>
              <a:buAutoNum type="arabicPeriod" startAt="1"/>
            </a:pPr>
            <a:r>
              <a:rPr lang="en-US" sz="1100" dirty="0">
                <a:solidFill>
                  <a:schemeClr val="tx1"/>
                </a:solidFill>
              </a:rPr>
              <a:t>Mach F et al. 2019 ESC/EAS Guidelines for the management of dyslipidaemias. Eur Heart J 2020;41:111-188.</a:t>
            </a:r>
            <a:endParaRPr lang="en-US" sz="1100" dirty="0"/>
          </a:p>
          <a:p>
            <a:pPr marL="342900" indent="-342900">
              <a:spcAft>
                <a:spcPts val="400"/>
              </a:spcAft>
              <a:buSzPct val="100000"/>
              <a:buFont typeface="+mj-lt"/>
              <a:buAutoNum type="arabicPeriod" startAt="1"/>
            </a:pPr>
            <a:r>
              <a:rPr lang="en-US" sz="1100" dirty="0">
                <a:solidFill>
                  <a:schemeClr val="tx1"/>
                </a:solidFill>
              </a:rPr>
              <a:t>Mueller C et al. Heart Failure Association of the ESC practical guidance on the use of natriuretic peptide concentrations. Eur J Heart Fail 2019;21:715-731.</a:t>
            </a:r>
            <a:endParaRPr lang="en-US" sz="1100" dirty="0"/>
          </a:p>
          <a:p>
            <a:pPr marL="342900" indent="-342900">
              <a:spcAft>
                <a:spcPts val="400"/>
              </a:spcAft>
              <a:buSzPct val="100000"/>
              <a:buFont typeface="+mj-lt"/>
              <a:buAutoNum type="arabicPeriod" startAt="1"/>
            </a:pPr>
            <a:r>
              <a:rPr lang="en-US" sz="1100" dirty="0">
                <a:solidFill>
                  <a:schemeClr val="tx1"/>
                </a:solidFill>
              </a:rPr>
              <a:t>Kronenberg F et al. Lipoprotein(a) in atherosclerotic cardiovascular disease: EAS consensus statement. Eur Heart J 2022;43:3925-3946.</a:t>
            </a:r>
            <a:endParaRPr lang="en-US" sz="1100" dirty="0"/>
          </a:p>
          <a:p>
            <a:pPr marL="342900" indent="-342900">
              <a:spcAft>
                <a:spcPts val="400"/>
              </a:spcAft>
              <a:buSzPct val="100000"/>
              <a:buFont typeface="+mj-lt"/>
              <a:buAutoNum type="arabicPeriod" startAt="1"/>
            </a:pPr>
            <a:r>
              <a:rPr lang="en-US" sz="1100" dirty="0">
                <a:solidFill>
                  <a:schemeClr val="tx1"/>
                </a:solidFill>
              </a:rPr>
              <a:t>Cole CR et al. Heart-rate recovery immediately after exercise as a predictor of mortality. N Engl J Med 1999;341:1351-1357.</a:t>
            </a:r>
            <a:endParaRPr lang="en-US" sz="1100" dirty="0"/>
          </a:p>
          <a:p>
            <a:pPr marL="342900" indent="-342900">
              <a:spcAft>
                <a:spcPts val="400"/>
              </a:spcAft>
              <a:buSzPct val="100000"/>
              <a:buFont typeface="+mj-lt"/>
              <a:buAutoNum type="arabicPeriod" startAt="1"/>
            </a:pPr>
            <a:r>
              <a:rPr lang="en-US" sz="1100" dirty="0">
                <a:solidFill>
                  <a:schemeClr val="tx1"/>
                </a:solidFill>
              </a:rPr>
              <a:t>Press Information Bureau, Government of India. NDTL regains WADA accreditation, December 2021.</a:t>
            </a:r>
            <a:endParaRPr lang="en-US" sz="1100" dirty="0"/>
          </a:p>
        </p:txBody>
      </p:sp>
      <p:sp>
        <p:nvSpPr>
          <p:cNvPr id="4" name="Text 2"/>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000" dirty="0">
                <a:solidFill>
                  <a:schemeClr val="accent4"/>
                </a:solidFill>
              </a:rPr>
              <a:t>Laboratory tests are performed in a NABL-accredited laboratory. The check-up is a screening programme and does not replace a consultation with your own doctor. Dhruv Diagnostics does not perform doping control; official testing is carried out by NADA India at WADA-accredited laboratories.</a:t>
            </a:r>
            <a:endParaRPr lang="en-US" sz="1000" dirty="0"/>
          </a:p>
        </p:txBody>
      </p:sp>
      <p:sp>
        <p:nvSpPr>
          <p:cNvPr id="25" name="Slide Number Placeholder 0"/>
          <p:cNvSpPr>
            <a:spLocks noGrp="1"/>
          </p:cNvSpPr>
          <p:nvPr>
            <p:ph type="sldNum" sz="quarter" idx="4294967295"/>
          </p:nvPr>
        </p:nvSpPr>
        <p:spPr>
          <a:xfrm>
            <a:off x="8229600" y="477316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2743200" cy="502920"/>
          </a:xfrm>
          <a:prstGeom prst="rect">
            <a:avLst/>
          </a:prstGeom>
          <a:noFill/>
          <a:ln/>
        </p:spPr>
        <p:txBody>
          <a:bodyPr wrap="square" lIns="0" tIns="0" rIns="0" bIns="0" rtlCol="0" anchor="t"/>
          <a:lstStyle/>
          <a:p>
            <a:pPr indent="0" marL="0">
              <a:buNone/>
            </a:pPr>
            <a:r>
              <a:rPr lang="en-US" sz="1800" b="1" dirty="0">
                <a:solidFill>
                  <a:srgbClr val="FFFFFF"/>
                </a:solidFill>
              </a:rPr>
              <a:t>DHRUV</a:t>
            </a:r>
            <a:endParaRPr lang="en-US" sz="1800" dirty="0"/>
          </a:p>
          <a:p>
            <a:pPr indent="0" marL="0">
              <a:buNone/>
            </a:pPr>
            <a:r>
              <a:rPr lang="en-US" sz="900" spc="400" kern="0" dirty="0">
                <a:solidFill>
                  <a:srgbClr val="93B4F5"/>
                </a:solidFill>
              </a:rPr>
              <a:t>DIAGNOSTICS</a:t>
            </a:r>
            <a:endParaRPr lang="en-US" sz="1800" dirty="0"/>
          </a:p>
        </p:txBody>
      </p:sp>
      <p:sp>
        <p:nvSpPr>
          <p:cNvPr id="3" name="Text 1"/>
          <p:cNvSpPr txBox="1"/>
          <p:nvPr/>
        </p:nvSpPr>
        <p:spPr>
          <a:xfrm>
            <a:off x="548640" y="1097280"/>
            <a:ext cx="4937760" cy="457200"/>
          </a:xfrm>
          <a:prstGeom prst="rect">
            <a:avLst/>
          </a:prstGeom>
          <a:noFill/>
          <a:ln/>
        </p:spPr>
        <p:txBody>
          <a:bodyPr wrap="square" lIns="0" tIns="0" rIns="0" bIns="0" rtlCol="0" anchor="ctr"/>
          <a:lstStyle/>
          <a:p>
            <a:pPr indent="0" marL="0">
              <a:buNone/>
            </a:pPr>
            <a:r>
              <a:rPr lang="en-US" sz="2400" b="1" dirty="0">
                <a:solidFill>
                  <a:srgbClr val="FFFFFF"/>
                </a:solidFill>
              </a:rPr>
              <a:t>Call to confirm your appointment</a:t>
            </a:r>
            <a:endParaRPr lang="en-US" sz="2400" dirty="0"/>
          </a:p>
        </p:txBody>
      </p:sp>
      <p:sp>
        <p:nvSpPr>
          <p:cNvPr id="4" name="Text 2"/>
          <p:cNvSpPr txBox="1"/>
          <p:nvPr/>
        </p:nvSpPr>
        <p:spPr>
          <a:xfrm>
            <a:off x="548640" y="1691640"/>
            <a:ext cx="4754880" cy="274320"/>
          </a:xfrm>
          <a:prstGeom prst="rect">
            <a:avLst/>
          </a:prstGeom>
          <a:noFill/>
          <a:ln/>
        </p:spPr>
        <p:txBody>
          <a:bodyPr wrap="square" lIns="0" tIns="0" rIns="0" bIns="0" rtlCol="0" anchor="ctr"/>
          <a:lstStyle/>
          <a:p>
            <a:pPr indent="0" marL="0">
              <a:buNone/>
            </a:pPr>
            <a:r>
              <a:rPr lang="en-US" sz="1500" b="1" dirty="0">
                <a:solidFill>
                  <a:srgbClr val="FFFFFF"/>
                </a:solidFill>
              </a:rPr>
              <a:t>Laxmi Nagar   </a:t>
            </a:r>
            <a:pPr indent="0" marL="0">
              <a:buNone/>
            </a:pPr>
            <a:r>
              <a:rPr lang="en-US" sz="1500" b="1" dirty="0">
                <a:solidFill>
                  <a:srgbClr val="22C55E"/>
                </a:solidFill>
              </a:rPr>
              <a:t>+91 89282 95328</a:t>
            </a:r>
            <a:endParaRPr lang="en-US" sz="1500" dirty="0"/>
          </a:p>
        </p:txBody>
      </p:sp>
      <p:sp>
        <p:nvSpPr>
          <p:cNvPr id="5" name="Text 3"/>
          <p:cNvSpPr txBox="1"/>
          <p:nvPr/>
        </p:nvSpPr>
        <p:spPr>
          <a:xfrm>
            <a:off x="548640" y="1984248"/>
            <a:ext cx="4754880" cy="274320"/>
          </a:xfrm>
          <a:prstGeom prst="rect">
            <a:avLst/>
          </a:prstGeom>
          <a:noFill/>
          <a:ln/>
        </p:spPr>
        <p:txBody>
          <a:bodyPr wrap="square" lIns="0" tIns="0" rIns="0" bIns="0" rtlCol="0" anchor="ctr"/>
          <a:lstStyle/>
          <a:p>
            <a:pPr indent="0" marL="0">
              <a:buNone/>
            </a:pPr>
            <a:r>
              <a:rPr lang="en-US" sz="1100" dirty="0">
                <a:solidFill>
                  <a:srgbClr val="C9D8F5"/>
                </a:solidFill>
              </a:rPr>
              <a:t>J-11, West High Court Road, Laxmi Nagar, Nagpur 440022</a:t>
            </a:r>
            <a:endParaRPr lang="en-US" sz="1100" dirty="0"/>
          </a:p>
        </p:txBody>
      </p:sp>
      <p:sp>
        <p:nvSpPr>
          <p:cNvPr id="6" name="Text 4"/>
          <p:cNvSpPr txBox="1"/>
          <p:nvPr/>
        </p:nvSpPr>
        <p:spPr>
          <a:xfrm>
            <a:off x="548640" y="2468880"/>
            <a:ext cx="4754880" cy="274320"/>
          </a:xfrm>
          <a:prstGeom prst="rect">
            <a:avLst/>
          </a:prstGeom>
          <a:noFill/>
          <a:ln/>
        </p:spPr>
        <p:txBody>
          <a:bodyPr wrap="square" lIns="0" tIns="0" rIns="0" bIns="0" rtlCol="0" anchor="ctr"/>
          <a:lstStyle/>
          <a:p>
            <a:pPr indent="0" marL="0">
              <a:buNone/>
            </a:pPr>
            <a:r>
              <a:rPr lang="en-US" sz="1500" b="1" dirty="0">
                <a:solidFill>
                  <a:srgbClr val="FFFFFF"/>
                </a:solidFill>
              </a:rPr>
              <a:t>Ramdaspeth   </a:t>
            </a:r>
            <a:pPr indent="0" marL="0">
              <a:buNone/>
            </a:pPr>
            <a:r>
              <a:rPr lang="en-US" sz="1500" b="1" dirty="0">
                <a:solidFill>
                  <a:srgbClr val="22C55E"/>
                </a:solidFill>
              </a:rPr>
              <a:t>+91 99224 16303</a:t>
            </a:r>
            <a:endParaRPr lang="en-US" sz="1500" dirty="0"/>
          </a:p>
        </p:txBody>
      </p:sp>
      <p:sp>
        <p:nvSpPr>
          <p:cNvPr id="7" name="Text 5"/>
          <p:cNvSpPr txBox="1"/>
          <p:nvPr/>
        </p:nvSpPr>
        <p:spPr>
          <a:xfrm>
            <a:off x="548640" y="2761488"/>
            <a:ext cx="4754880" cy="274320"/>
          </a:xfrm>
          <a:prstGeom prst="rect">
            <a:avLst/>
          </a:prstGeom>
          <a:noFill/>
          <a:ln/>
        </p:spPr>
        <p:txBody>
          <a:bodyPr wrap="square" lIns="0" tIns="0" rIns="0" bIns="0" rtlCol="0" anchor="ctr"/>
          <a:lstStyle/>
          <a:p>
            <a:pPr indent="0" marL="0">
              <a:buNone/>
            </a:pPr>
            <a:r>
              <a:rPr lang="en-US" sz="1100" dirty="0">
                <a:solidFill>
                  <a:srgbClr val="C9D8F5"/>
                </a:solidFill>
              </a:rPr>
              <a:t>3rd Floor, Aditya Enclave, Central Bazar Road, Ramdaspeth, Nagpur 440010</a:t>
            </a:r>
            <a:endParaRPr lang="en-US" sz="1100" dirty="0"/>
          </a:p>
        </p:txBody>
      </p:sp>
      <p:sp>
        <p:nvSpPr>
          <p:cNvPr id="8" name="Text 6"/>
          <p:cNvSpPr txBox="1"/>
          <p:nvPr/>
        </p:nvSpPr>
        <p:spPr>
          <a:xfrm>
            <a:off x="548640" y="3291840"/>
            <a:ext cx="5120640" cy="274320"/>
          </a:xfrm>
          <a:prstGeom prst="rect">
            <a:avLst/>
          </a:prstGeom>
          <a:noFill/>
          <a:ln/>
        </p:spPr>
        <p:txBody>
          <a:bodyPr wrap="square" lIns="0" tIns="0" rIns="0" bIns="0" rtlCol="0" anchor="ctr"/>
          <a:lstStyle/>
          <a:p>
            <a:pPr indent="0" marL="0">
              <a:buNone/>
            </a:pPr>
            <a:r>
              <a:rPr lang="en-US" sz="1100" dirty="0">
                <a:solidFill>
                  <a:srgbClr val="C9D8F5"/>
                </a:solidFill>
              </a:rPr>
              <a:t>Mon-Sat 7 AM-9 PM  |  Sun 7 AM-5 PM   |   dhruvlabs@gmail.com</a:t>
            </a:r>
            <a:endParaRPr lang="en-US" sz="1100" dirty="0"/>
          </a:p>
        </p:txBody>
      </p:sp>
      <p:sp>
        <p:nvSpPr>
          <p:cNvPr id="9" name="Shape 7"/>
          <p:cNvSpPr/>
          <p:nvPr/>
        </p:nvSpPr>
        <p:spPr>
          <a:xfrm>
            <a:off x="548640" y="3657600"/>
            <a:ext cx="960120" cy="960120"/>
          </a:xfrm>
          <a:prstGeom prst="rect">
            <a:avLst/>
          </a:prstGeom>
          <a:solidFill>
            <a:srgbClr val="FFFFFF"/>
          </a:solidFill>
          <a:ln w="12700">
            <a:solidFill>
              <a:srgbClr val="FFFFFF"/>
            </a:solidFill>
            <a:prstDash val="solid"/>
          </a:ln>
        </p:spPr>
      </p:sp>
      <p:pic>
        <p:nvPicPr>
          <p:cNvPr id="10" name="Image 0" descr="Website QR code">    </p:cNvPr>
          <p:cNvPicPr>
            <a:picLocks noChangeAspect="1"/>
          </p:cNvPicPr>
          <p:nvPr/>
        </p:nvPicPr>
        <p:blipFill>
          <a:blip r:embed="rId2"/>
          <a:stretch>
            <a:fillRect/>
          </a:stretch>
        </p:blipFill>
        <p:spPr>
          <a:xfrm>
            <a:off x="594360" y="3703320"/>
            <a:ext cx="868680" cy="868680"/>
          </a:xfrm>
          <a:prstGeom prst="rect">
            <a:avLst/>
          </a:prstGeom>
        </p:spPr>
      </p:pic>
      <p:sp>
        <p:nvSpPr>
          <p:cNvPr id="11" name="Shape 8"/>
          <p:cNvSpPr/>
          <p:nvPr/>
        </p:nvSpPr>
        <p:spPr>
          <a:xfrm>
            <a:off x="1965960" y="3657600"/>
            <a:ext cx="960120" cy="960120"/>
          </a:xfrm>
          <a:prstGeom prst="rect">
            <a:avLst/>
          </a:prstGeom>
          <a:solidFill>
            <a:srgbClr val="FFFFFF"/>
          </a:solidFill>
          <a:ln w="12700">
            <a:solidFill>
              <a:srgbClr val="FFFFFF"/>
            </a:solidFill>
            <a:prstDash val="solid"/>
          </a:ln>
        </p:spPr>
      </p:sp>
      <p:pic>
        <p:nvPicPr>
          <p:cNvPr id="12" name="Image 1" descr="Map: Laxmi Nagar QR code">    </p:cNvPr>
          <p:cNvPicPr>
            <a:picLocks noChangeAspect="1"/>
          </p:cNvPicPr>
          <p:nvPr/>
        </p:nvPicPr>
        <p:blipFill>
          <a:blip r:embed="rId3"/>
          <a:stretch>
            <a:fillRect/>
          </a:stretch>
        </p:blipFill>
        <p:spPr>
          <a:xfrm>
            <a:off x="2011680" y="3703320"/>
            <a:ext cx="868680" cy="868680"/>
          </a:xfrm>
          <a:prstGeom prst="rect">
            <a:avLst/>
          </a:prstGeom>
        </p:spPr>
      </p:pic>
      <p:sp>
        <p:nvSpPr>
          <p:cNvPr id="13" name="Shape 9"/>
          <p:cNvSpPr/>
          <p:nvPr/>
        </p:nvSpPr>
        <p:spPr>
          <a:xfrm>
            <a:off x="3383280" y="3657600"/>
            <a:ext cx="960120" cy="960120"/>
          </a:xfrm>
          <a:prstGeom prst="rect">
            <a:avLst/>
          </a:prstGeom>
          <a:solidFill>
            <a:srgbClr val="FFFFFF"/>
          </a:solidFill>
          <a:ln w="12700">
            <a:solidFill>
              <a:srgbClr val="FFFFFF"/>
            </a:solidFill>
            <a:prstDash val="solid"/>
          </a:ln>
        </p:spPr>
      </p:sp>
      <p:pic>
        <p:nvPicPr>
          <p:cNvPr id="14" name="Image 2" descr="Map: Ramdaspeth QR code">    </p:cNvPr>
          <p:cNvPicPr>
            <a:picLocks noChangeAspect="1"/>
          </p:cNvPicPr>
          <p:nvPr/>
        </p:nvPicPr>
        <p:blipFill>
          <a:blip r:embed="rId4"/>
          <a:stretch>
            <a:fillRect/>
          </a:stretch>
        </p:blipFill>
        <p:spPr>
          <a:xfrm>
            <a:off x="3429000" y="3703320"/>
            <a:ext cx="868680" cy="868680"/>
          </a:xfrm>
          <a:prstGeom prst="rect">
            <a:avLst/>
          </a:prstGeom>
        </p:spPr>
      </p:pic>
      <p:sp>
        <p:nvSpPr>
          <p:cNvPr id="15" name="Text 10"/>
          <p:cNvSpPr txBox="1"/>
          <p:nvPr/>
        </p:nvSpPr>
        <p:spPr>
          <a:xfrm>
            <a:off x="548640" y="4645152"/>
            <a:ext cx="1325880" cy="201168"/>
          </a:xfrm>
          <a:prstGeom prst="rect">
            <a:avLst/>
          </a:prstGeom>
          <a:noFill/>
          <a:ln/>
        </p:spPr>
        <p:txBody>
          <a:bodyPr wrap="square" lIns="0" tIns="0" rIns="0" bIns="0" rtlCol="0" anchor="ctr"/>
          <a:lstStyle/>
          <a:p>
            <a:pPr indent="0" marL="0">
              <a:buNone/>
            </a:pPr>
            <a:r>
              <a:rPr lang="en-US" sz="900" dirty="0">
                <a:solidFill>
                  <a:srgbClr val="C9D8F5"/>
                </a:solidFill>
              </a:rPr>
              <a:t>Website</a:t>
            </a:r>
            <a:endParaRPr lang="en-US" sz="900" dirty="0"/>
          </a:p>
        </p:txBody>
      </p:sp>
      <p:sp>
        <p:nvSpPr>
          <p:cNvPr id="16" name="Text 11"/>
          <p:cNvSpPr txBox="1"/>
          <p:nvPr/>
        </p:nvSpPr>
        <p:spPr>
          <a:xfrm>
            <a:off x="1965960" y="4645152"/>
            <a:ext cx="1325880" cy="201168"/>
          </a:xfrm>
          <a:prstGeom prst="rect">
            <a:avLst/>
          </a:prstGeom>
          <a:noFill/>
          <a:ln/>
        </p:spPr>
        <p:txBody>
          <a:bodyPr wrap="square" lIns="0" tIns="0" rIns="0" bIns="0" rtlCol="0" anchor="ctr"/>
          <a:lstStyle/>
          <a:p>
            <a:pPr indent="0" marL="0">
              <a:buNone/>
            </a:pPr>
            <a:r>
              <a:rPr lang="en-US" sz="900" dirty="0">
                <a:solidFill>
                  <a:srgbClr val="C9D8F5"/>
                </a:solidFill>
              </a:rPr>
              <a:t>Laxmi Nagar map</a:t>
            </a:r>
            <a:endParaRPr lang="en-US" sz="900" dirty="0"/>
          </a:p>
        </p:txBody>
      </p:sp>
      <p:sp>
        <p:nvSpPr>
          <p:cNvPr id="17" name="Text 12"/>
          <p:cNvSpPr txBox="1"/>
          <p:nvPr/>
        </p:nvSpPr>
        <p:spPr>
          <a:xfrm>
            <a:off x="3383280" y="4645152"/>
            <a:ext cx="1325880" cy="201168"/>
          </a:xfrm>
          <a:prstGeom prst="rect">
            <a:avLst/>
          </a:prstGeom>
          <a:noFill/>
          <a:ln/>
        </p:spPr>
        <p:txBody>
          <a:bodyPr wrap="square" lIns="0" tIns="0" rIns="0" bIns="0" rtlCol="0" anchor="ctr"/>
          <a:lstStyle/>
          <a:p>
            <a:pPr indent="0" marL="0">
              <a:buNone/>
            </a:pPr>
            <a:r>
              <a:rPr lang="en-US" sz="900" dirty="0">
                <a:solidFill>
                  <a:srgbClr val="C9D8F5"/>
                </a:solidFill>
              </a:rPr>
              <a:t>Ramdaspeth map</a:t>
            </a:r>
            <a:endParaRPr lang="en-US" sz="900" dirty="0"/>
          </a:p>
        </p:txBody>
      </p:sp>
    </p:spTree>
  </p:cSld>
  <p:clrMapOvr>
    <a:masterClrMapping/>
  </p:clrMapOvr>
</p:sld>
</file>

<file path=ppt/theme/theme1.xml><?xml version="1.0" encoding="utf-8"?>
<a:theme xmlns:a="http://schemas.openxmlformats.org/drawingml/2006/main" name="Dhruv Clinical">
  <a:themeElements>
    <a:clrScheme name="Dhruv Clinical">
      <a:dk1>
        <a:srgbClr val="0F172A"/>
      </a:dk1>
      <a:lt1>
        <a:srgbClr val="FFFFFF"/>
      </a:lt1>
      <a:dk2>
        <a:srgbClr val="1B2A4A"/>
      </a:dk2>
      <a:lt2>
        <a:srgbClr val="EFF5FF"/>
      </a:lt2>
      <a:accent1>
        <a:srgbClr val="2563EB"/>
      </a:accent1>
      <a:accent2>
        <a:srgbClr val="B45309"/>
      </a:accent2>
      <a:accent3>
        <a:srgbClr val="22C55E"/>
      </a:accent3>
      <a:accent4>
        <a:srgbClr val="475569"/>
      </a:accent4>
      <a:accent5>
        <a:srgbClr val="DBEAFE"/>
      </a:accent5>
      <a:accent6>
        <a:srgbClr val="D6E0EE"/>
      </a:accent6>
      <a:hlink>
        <a:srgbClr val="2563EB"/>
      </a:hlink>
      <a:folHlink>
        <a:srgbClr val="475569"/>
      </a:folHlink>
    </a:clrScheme>
    <a:fontScheme name="Dhruv Clinic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Athlete and Physique Health Check-Up</dc:title>
  <dc:subject>Health check-up plan for athletes and bodybuilders</dc:subject>
  <dc:creator>Dhruv Diagnostics, Nagpur</dc:creator>
  <cp:lastModifiedBy>Dhruv Diagnostics, Nagpur</cp:lastModifiedBy>
  <cp:revision>1</cp:revision>
  <dcterms:created xsi:type="dcterms:W3CDTF">2026-10-10T06:32:01Z</dcterms:created>
  <dcterms:modified xsi:type="dcterms:W3CDTF">2026-10-10T06:32:01Z</dcterms:modified>
</cp:coreProperties>
</file>