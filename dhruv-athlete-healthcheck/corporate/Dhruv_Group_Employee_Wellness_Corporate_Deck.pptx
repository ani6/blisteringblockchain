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3f36d34-7704-6cf9-a5d2-46f29f15a29d}">
          <p14:sldIdLst>
            <p14:sldId id="256"/>
          </p14:sldIdLst>
        </p14:section>
        <p14:section name="Why" id="{38c13780-690f-4dbd-1fee-0451a616b3e8}">
          <p14:sldIdLst>
            <p14:sldId id="257"/>
            <p14:sldId id="258"/>
            <p14:sldId id="259"/>
          </p14:sldIdLst>
        </p14:section>
        <p14:section name="Who we are" id="{4a4b860a-e4ec-3383-f821-b80c4b6de275}">
          <p14:sldIdLst>
            <p14:sldId id="260"/>
            <p14:sldId id="261"/>
          </p14:sldIdLst>
        </p14:section>
        <p14:section name="Offer" id="{1e816418-8d93-5ebc-959f-59e84fa16a93}">
          <p14:sldIdLst>
            <p14:sldId id="262"/>
            <p14:sldId id="263"/>
            <p14:sldId id="264"/>
          </p14:sldIdLst>
        </p14:section>
        <p14:section name="Women's wellness and blood donation" id="{1de1abd7-b889-f869-7c3a-0f3378fb473a}">
          <p14:sldIdLst>
            <p14:sldId id="265"/>
            <p14:sldId id="266"/>
          </p14:sldIdLst>
        </p14:section>
        <p14:section name="Plan" id="{2a4522a9-3553-050a-8376-fe1dfc9cfabb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+mn-lt"/>
              </a:rPr>
              <a:t>Indian adults aged 20+, ICMR-INDIAB 2023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adults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Dyslipidaemia</c:v>
                  </c:pt>
                  <c:pt idx="1">
                    <c:v>Hypertension</c:v>
                  </c:pt>
                  <c:pt idx="2">
                    <c:v>Prediabetes</c:v>
                  </c:pt>
                  <c:pt idx="3">
                    <c:v>Diabetes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81.2</c:v>
                </c:pt>
                <c:pt idx="1">
                  <c:v>35.5</c:v>
                </c:pt>
                <c:pt idx="2">
                  <c:v>15.3</c:v>
                </c:pt>
                <c:pt idx="3">
                  <c:v>11.4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+mn-lt"/>
              </a:rPr>
              <a:t>Hospitalisation rate among 10,551 employees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Hospitalisation rate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Three annual check-ups</c:v>
                  </c:pt>
                  <c:pt idx="1">
                    <c:v>No check-ups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2.41</c:v>
                </c:pt>
                <c:pt idx="1">
                  <c:v>7.27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D6E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offer: one partner for employee check-ups, women's fitness and grooming, and blood donation camps, all from the same campus on West High Court Road, Laxmi Nagar.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proposed per-employee rates for on-site camps or branch visits, set from 2026 Nagpur walk-in prices for the same tests and Nagpur hospital package benchmarks (Wockhardt Rs 3,999-7,199; KIMS-Kingsway Rs 3,000-8,500). Confirm with Dhruv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Breakfast is part of the Executive package. Sequence: fasting tests and ultrasound first, then breakfast, then ECG and TMT. Dhruv to confirm the breakfast menu, caterer and seating at the Laxmi Nagar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 n Figure corporate rates to be set by Face n Figure management. Founding year from directory listings (1978-79), so the slide says 'over four decades'.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Camps are free to the host company. Eligibility per Drugs and Cosmetics (Second Amendment) Rules 2020 and NBTC guidelines. A camp open to the wider community can be booked as CSR (preventive health care); confirm with the CSR committee. Firsts and dates are the blood bank's own claims; NABH certificate BB-2011-0033 is valid to 4 April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discounts and camp minimums are proposals for Dhruv management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Mon-Sat 7 AM-9 PM  |  Sun 7 AM-5 PM. dhruvlabs@gmail.com. Laboratory tests in a NABL-accredited laboratory; check-ups are screening and do not replace a consultation with the employee's own doctor.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pic>
        <p:nvPicPr>
          <p:cNvPr id="3" name="Image 0" descr="/tmp/claude-0/-home-user-BlisteringBlockchain/d9fb2d6e-0573-5890-9b54-a37c96abb606/scratchpad/art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46888" cy="3063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6384" y="47731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Dhruv Diagnostics  ·  Face n Figure  ·  Jeevan Jyoti Blood Bank  ·  Laxmi Nagar, Nagpur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hruv Diagnostic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6001"/>
            <a:ext cx="545385" cy="676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12897" y="457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DHRUV</a:t>
            </a:r>
            <a:endParaRPr lang="en-US" sz="2000" dirty="0"/>
          </a:p>
          <a:p>
            <a:pPr indent="0" marL="0">
              <a:buNone/>
            </a:pPr>
            <a:r>
              <a:rPr lang="en-US" sz="1000" spc="400" kern="0" dirty="0">
                <a:solidFill>
                  <a:srgbClr val="93B4F5"/>
                </a:solidFill>
              </a:rPr>
              <a:t>DIAGNOSTICS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Employee health and wellness, from one campus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F5"/>
                </a:solidFill>
              </a:rPr>
              <a:t>A proposal for companies in Nagpur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93B4F5"/>
                </a:solidFill>
              </a:rPr>
              <a:t>Dhruv Diagnostics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9A8D4"/>
                </a:solidFill>
              </a:rPr>
              <a:t>Face n Figure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5A5"/>
                </a:solidFill>
              </a:rPr>
              <a:t>Jeevan Jyoti Blood Bank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adults carry a risk they cannot feel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51560"/>
            <a:ext cx="2926080" cy="1508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1704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91C1C"/>
                </a:solidFill>
              </a:rPr>
              <a:t>54%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783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</a:rPr>
              <a:t>of women in Maharashtra are anaemic (NFHS-5)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60720" y="2743200"/>
            <a:ext cx="2926080" cy="150876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28620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1 test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474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</a:rPr>
              <a:t>finds each of these early. None of them hurts until it is advanced.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Sources: Anjana RM et al., Lancet Diabetes Endocrinol 2023 (ICMR-INDIAB, 113,043 adults); NFHS-5 Maharashtra fact sheet, 2019-21 (54.2% of women aged 15-49).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check-ups go with fewer hospital stays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389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2120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What the data shows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14630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Employees who completed three annual check-ups were hospitalised about a third as often as those who skipped them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Skippers were a quarter of employees but made up 46% of inpatient claims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Fewer than 30% of employees take part in company wellbeing programmes; on-site camps and same-campus visits close that gap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Sources: CII-MediBuddy Workplace Health Report (3rd edition), an association, not proof of cause; Plum, Health Report of Corporate India 2023.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new rules mean for employers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Labour codes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 force since 21 November 2025. In May 2026 the government launched free annual check-ups for workers aged 40+. The binding central rule now covers dock and construction work; Maharashtra's rules are in draft.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We can run 40+ check-ups for you now, ahead of any wider rule.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06040" cy="333756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Data protection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7276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The DPDP Rules were notified on 13 November 2025; most duties apply from 13 May 2027. Health results need consent and may be used only for the stated purpose.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Each employee gets their own report. HR gets anonymised group results only.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0604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CSR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7276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Programmes that benefit only your own employees are not CSR. Blood donation and health camps open to the community can count as preventive health care.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Run staff check-ups as a benefit, and blood camps as community CSR.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Not legal advice. Sources: Gazette notifications of 21 Nov 2025; OSH (Central) Rules 2026, G.S.R. 345(E); DPDP Rules 2025; Companies (CSR Policy) Rules 2014, rule 2(1)(d).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services, one Laxmi Nagar campus</a:t>
            </a:r>
            <a:endParaRPr lang="en-US" sz="2700" dirty="0"/>
          </a:p>
        </p:txBody>
      </p:sp>
      <p:pic>
        <p:nvPicPr>
          <p:cNvPr id="3" name="Image 0" descr="Dhruv Diagnostics illust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2606040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Dhruv Diagnostics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NABL-accredited pathology and ultrasound. Health check-ups, on-site camps, reports and physician review.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31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J-11 and Ramdaspeth</a:t>
            </a:r>
            <a:endParaRPr lang="en-US" sz="1050" dirty="0"/>
          </a:p>
        </p:txBody>
      </p:sp>
      <p:pic>
        <p:nvPicPr>
          <p:cNvPr id="7" name="Image 1" descr="Face n Figure illustratio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005840"/>
            <a:ext cx="2606040" cy="1417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46120" y="25054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b="1" dirty="0">
                <a:solidFill>
                  <a:srgbClr val="BE185D"/>
                </a:solidFill>
              </a:rPr>
              <a:t>Face n Figure</a:t>
            </a:r>
            <a:endParaRPr lang="en-US" sz="1496" dirty="0"/>
          </a:p>
          <a:p>
            <a:pPr indent="0" marL="0">
              <a:buNone/>
            </a:pPr>
            <a:r>
              <a:rPr lang="en-US" sz="572" spc="200" kern="0" dirty="0">
                <a:solidFill>
                  <a:srgbClr val="475569"/>
                </a:solidFill>
              </a:rPr>
              <a:t>LADIES GYM · BEAUTY PARLOUR</a:t>
            </a:r>
            <a:endParaRPr lang="en-US" sz="1496" dirty="0"/>
          </a:p>
        </p:txBody>
      </p:sp>
      <p:sp>
        <p:nvSpPr>
          <p:cNvPr id="9" name="Text 5"/>
          <p:cNvSpPr txBox="1"/>
          <p:nvPr/>
        </p:nvSpPr>
        <p:spPr>
          <a:xfrm>
            <a:off x="3246120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Women-only gym and beauty parlour: gym, Zumba, Pilates, yoga, steam, sauna and grooming.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3931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J-11, same building</a:t>
            </a:r>
            <a:endParaRPr lang="en-US" sz="1050" dirty="0"/>
          </a:p>
        </p:txBody>
      </p:sp>
      <p:pic>
        <p:nvPicPr>
          <p:cNvPr id="11" name="Image 2" descr="Jeevan Jyoti Blood Bank illustratio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005840"/>
            <a:ext cx="2606040" cy="1417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35040" y="25054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b="1" dirty="0">
                <a:solidFill>
                  <a:srgbClr val="B91C1C"/>
                </a:solidFill>
              </a:rPr>
              <a:t>Jeevan Jyoti</a:t>
            </a:r>
            <a:endParaRPr lang="en-US" sz="1496" dirty="0"/>
          </a:p>
          <a:p>
            <a:pPr indent="0" marL="0">
              <a:buNone/>
            </a:pPr>
            <a:r>
              <a:rPr lang="en-US" sz="572" spc="200" kern="0" dirty="0">
                <a:solidFill>
                  <a:srgbClr val="475569"/>
                </a:solidFill>
              </a:rPr>
              <a:t>BLOOD BANK &amp; COMPONENTS</a:t>
            </a:r>
            <a:endParaRPr lang="en-US" sz="1496" dirty="0"/>
          </a:p>
        </p:txBody>
      </p:sp>
      <p:sp>
        <p:nvSpPr>
          <p:cNvPr id="13" name="Text 8"/>
          <p:cNvSpPr txBox="1"/>
          <p:nvPr/>
        </p:nvSpPr>
        <p:spPr>
          <a:xfrm>
            <a:off x="6035040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NABH-accredited blood bank and components centre. Voluntary donation camps at your premises.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931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J-12, next door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All three are on West High Court Road, Laxmi Nagar, Nagpur 440022. One meeting, one coordinator, one invoice.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Diagnostics, Nagpur</a:t>
            </a:r>
            <a:endParaRPr lang="en-US" sz="2700" dirty="0"/>
          </a:p>
        </p:txBody>
      </p:sp>
      <p:pic>
        <p:nvPicPr>
          <p:cNvPr id="3" name="Image 0" descr="DNA double helix illust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51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30+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09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years of diagnostics in Nagpur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2971800" y="1051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2011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971800" y="1709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NABL accredited since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990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branches: Laxmi Nagar and Ramdaspeth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7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2990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days a week, from 7 AM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11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Pathology, biochemistry, hormones, molecular tests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Ultrasound, including musculoskeletal scans by a trained MSK radiologist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ECG and treadmill stress test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check-up packages, per employee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324612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Essential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All employees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CBC, blood sugar and HbA1c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Lipid profile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Liver and kidney function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Thyroid (TSH)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Urine routine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BP, BMI and a doctor's summary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₹999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Tests at walk-in prices </a:t>
            </a:r>
            <a:pPr indent="0" marL="0">
              <a:buNone/>
            </a:pPr>
            <a:r>
              <a:rPr lang="en-US" sz="950" strike="sngStrike" dirty="0">
                <a:solidFill>
                  <a:srgbClr val="475569"/>
                </a:solidFill>
              </a:rPr>
              <a:t>₹3,159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115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Comprehensive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1EBFF"/>
                </a:solidFill>
              </a:rPr>
              <a:t>Staff over 30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1051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Everything in Essential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Vitamin D and B12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Ferritin and hs-CRP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Resting ECG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Physician consultation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₹2,499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BFF"/>
                </a:solidFill>
              </a:rPr>
              <a:t>Tests at walk-in prices </a:t>
            </a:r>
            <a:pPr indent="0" marL="0">
              <a:buNone/>
            </a:pPr>
            <a:r>
              <a:rPr lang="en-US" sz="950" strike="sngStrike" dirty="0">
                <a:solidFill>
                  <a:srgbClr val="E1EBFF"/>
                </a:solidFill>
              </a:rPr>
              <a:t>₹7,819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324612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115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Executive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1EBFF"/>
                </a:solidFill>
              </a:rPr>
              <a:t>Staff over 40 and leadership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1051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Everything in Comprehensive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Treadmill stress test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Ultrasound of abdomen and pelvis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Apo B, Lp(a), and PSA or Pap smear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Tasty breakfast included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₹5,499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BFF"/>
                </a:solidFill>
              </a:rPr>
              <a:t>Tests at walk-in prices </a:t>
            </a:r>
            <a:pPr indent="0" marL="0">
              <a:buNone/>
            </a:pPr>
            <a:r>
              <a:rPr lang="en-US" sz="950" strike="sngStrike" dirty="0">
                <a:solidFill>
                  <a:srgbClr val="E1EBFF"/>
                </a:solidFill>
              </a:rPr>
              <a:t>₹13,128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Add-ons: Women's health add-on ₹1,499   |   Neck, shoulder or wrist ultrasound ₹999.   Per-employee prices for groups of 50 or more; family members at the same rate.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check-up, breakfast included</a:t>
            </a:r>
            <a:endParaRPr lang="en-US" sz="2700" dirty="0"/>
          </a:p>
        </p:txBody>
      </p:sp>
      <p:pic>
        <p:nvPicPr>
          <p:cNvPr id="3" name="Image 0" descr="Breakfast tray with poha, chai and fru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051560"/>
            <a:ext cx="3429000" cy="2569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5780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A tasty, healthy breakfast after the fasting tests: poha, upma or idli, fresh fruit, eggs, and chai or coffee. Low-oil and diabetes-friendly.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Fasting blood and urine samples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Ultrasound of abdomen and pelvis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414016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2487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Breakfast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30723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31455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ECG and treadmill stress test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37307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3803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Physician goes through the results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camps with confidential reporting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Camp day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Registration by QR the week before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Fasting samples from 7:30 AM at your office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Height, weight, BP and SpO2 on the spot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Ultrasound, TMT and Executive tests at our Laxmi Nagar branch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Reports in 24 to 48 hours on WhatsApp and email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3931920" cy="324612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834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Who sees what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6459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</a:rPr>
              <a:t>Employee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8F5"/>
                </a:solidFill>
              </a:rPr>
              <a:t>Their full report and a doctor's summary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</a:rPr>
              <a:t>HR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8F5"/>
                </a:solidFill>
              </a:rPr>
              <a:t>Participation and anonymised group results, such as the share of staff with high blood sugar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</a:rPr>
              <a:t>Nobody else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8F5"/>
                </a:solidFill>
              </a:rPr>
              <a:t>Consent is taken at registration, in line with the DPDP Act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wellness</a:t>
            </a:r>
            <a:endParaRPr lang="en-US" sz="2700" dirty="0"/>
          </a:p>
        </p:txBody>
      </p:sp>
      <p:pic>
        <p:nvPicPr>
          <p:cNvPr id="3" name="Image 0" descr="Woman in yoga tree po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3493008"/>
            <a:ext cx="3566160" cy="786384"/>
          </a:xfrm>
          <a:prstGeom prst="rect">
            <a:avLst/>
          </a:prstGeom>
          <a:solidFill>
            <a:srgbClr val="0F1A2E">
              <a:alpha val="65000"/>
            </a:srgbClr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0" b="1" dirty="0">
                <a:solidFill>
                  <a:srgbClr val="FFFFFF"/>
                </a:solidFill>
              </a:rPr>
              <a:t>Face n Figure</a:t>
            </a:r>
            <a:endParaRPr lang="en-US" sz="1870" dirty="0"/>
          </a:p>
          <a:p>
            <a:pPr indent="0" marL="0">
              <a:buNone/>
            </a:pPr>
            <a:r>
              <a:rPr lang="en-US" sz="715" spc="200" kern="0" dirty="0">
                <a:solidFill>
                  <a:srgbClr val="FBCFE8"/>
                </a:solidFill>
              </a:rPr>
              <a:t>LADIES GYM · BEAUTY PARLOUR</a:t>
            </a:r>
            <a:endParaRPr lang="en-US" sz="187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E185D"/>
                </a:solidFill>
              </a:rPr>
              <a:t>A women-only gym and beauty parlour in Laxmi Nagar for over four decades.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Fitness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20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Gym and strength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Zumba, aerobics, Pilates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Yoga and meditation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Steam and sauna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Beauty parlour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19202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Skin and hair care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Grooming for client-facing staff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Bridal and event make-up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4846320" cy="1097280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4015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85D"/>
                </a:solidFill>
              </a:rPr>
              <a:t>For your company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Corporate membership rates, Women's Day and wellness-week sessions on your premises, and a women's health add-on from Dhruv: ₹1,499 for an anaemia, thyroid and hormone check with a Pap smear.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donation camps</a:t>
            </a:r>
            <a:endParaRPr lang="en-US" sz="2700" dirty="0"/>
          </a:p>
        </p:txBody>
      </p:sp>
      <p:pic>
        <p:nvPicPr>
          <p:cNvPr id="3" name="Image 0" descr="Blood drop with heartbeat 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3493008"/>
            <a:ext cx="3566160" cy="786384"/>
          </a:xfrm>
          <a:prstGeom prst="rect">
            <a:avLst/>
          </a:prstGeom>
          <a:solidFill>
            <a:srgbClr val="0F1A2E">
              <a:alpha val="65000"/>
            </a:srgbClr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0" b="1" dirty="0">
                <a:solidFill>
                  <a:srgbClr val="FFFFFF"/>
                </a:solidFill>
              </a:rPr>
              <a:t>Jeevan Jyoti</a:t>
            </a:r>
            <a:endParaRPr lang="en-US" sz="1870" dirty="0"/>
          </a:p>
          <a:p>
            <a:pPr indent="0" marL="0">
              <a:buNone/>
            </a:pPr>
            <a:r>
              <a:rPr lang="en-US" sz="715" spc="200" kern="0" dirty="0">
                <a:solidFill>
                  <a:srgbClr val="FBCFE8"/>
                </a:solidFill>
              </a:rPr>
              <a:t>BLOOD BANK &amp; COMPONENTS</a:t>
            </a:r>
            <a:endParaRPr lang="en-US" sz="187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NABH-accredited since 2011, open 24 hours, and the region's first blood bank to prepare all components (1997).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We bring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11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Doctor, nurse, technicians and counsellor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Donor screening and refreshments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Certificates for every donor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You provide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2011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room about 20 x 30 ft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Power point, water, 3-4 tables, 20-25 chairs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Donor sign-ups through HR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484632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4015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Who can donate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Age 18-65 (first-time donors up to 60), weight 45 kg or more, haemoglobin 12.5 g/dL or more. Men every 3 months, women every 4 months.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of wellness, planned with you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25400">
            <a:solidFill>
              <a:srgbClr val="D6E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07592"/>
            <a:ext cx="219456" cy="219456"/>
          </a:xfrm>
          <a:prstGeom prst="ellipse">
            <a:avLst/>
          </a:prstGeom>
          <a:solidFill>
            <a:srgbClr val="BE185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E185D"/>
                </a:solidFill>
              </a:rPr>
              <a:t>Mar 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Women's Day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Face n Figure session and women's health add-on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82496" y="1307592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36776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Apr 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36776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World Health Day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636776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Annual check-up camp opens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62072" y="1307592"/>
            <a:ext cx="219456" cy="219456"/>
          </a:xfrm>
          <a:prstGeom prst="ellipse">
            <a:avLst/>
          </a:prstGeom>
          <a:solidFill>
            <a:srgbClr val="B91C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6352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Jun 14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16352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World Blood Donor Day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816352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Blood donation camp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41648" y="1307592"/>
            <a:ext cx="219456" cy="219456"/>
          </a:xfrm>
          <a:prstGeom prst="ellipse">
            <a:avLst/>
          </a:prstGeom>
          <a:solidFill>
            <a:srgbClr val="BE185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95928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E185D"/>
                </a:solidFill>
              </a:rPr>
              <a:t>Jun 21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95928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International Yoga Day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Yoga session on your premises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21224" y="1307592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75504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Sep 29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World Heart Day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Executive heart checks for staff over 40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1307592"/>
            <a:ext cx="219456" cy="219456"/>
          </a:xfrm>
          <a:prstGeom prst="ellipse">
            <a:avLst/>
          </a:prstGeom>
          <a:solidFill>
            <a:srgbClr val="B91C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Oct 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National Voluntary Blood Donation Day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Second blood donation camp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0376" y="1307592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34656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Nov 14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World Diabetes Day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534656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HbA1c follow-up for staff at risk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Dates are the official international and national observance days. The order and content can be changed to suit your year.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companies work with us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check-ups (Dhruv)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employee, on-site camp or branch visit; family at the same 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Essential ₹999, Comprehensive ₹2,499, Executive ₹5,499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on-site camp for 50+ employees at one location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5% off at 300+, 10% at 1,000+ employees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wellness (Face n Figure)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memberships, on-site sessions, grooming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rates on request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donation (Jeevan Jyoti)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 at your premises, 1-2 a year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to the company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Anonymised group report after each camp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takes four steps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</a:rPr>
              <a:t>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Meet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We agree headcount, packages and who pays what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Camp dates, site visit and the QR booking link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Run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Camp day, branch visits and reports within 48 hours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4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Review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Group report to HR and follow-up for staff at risk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First camp can run within three weeks of sign-off.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hruv Diagnostic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81"/>
            <a:ext cx="490846" cy="60899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58358" y="365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DHRUV</a:t>
            </a:r>
            <a:endParaRPr lang="en-US" sz="1800" dirty="0"/>
          </a:p>
          <a:p>
            <a:pPr indent="0" marL="0">
              <a:buNone/>
            </a:pPr>
            <a:r>
              <a:rPr lang="en-US" sz="900" spc="400" kern="0" dirty="0">
                <a:solidFill>
                  <a:srgbClr val="93B4F5"/>
                </a:solidFill>
              </a:rPr>
              <a:t>DIAGNOSTICS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Call to set up a meeting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Dhruv Diagnostics, Laxmi Nagar  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+91 89282 95328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J-11, West High Court Road, Laxmi Nagar, Nagpur 440022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214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Dhruv Diagnostics, Ramdaspeth  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+91 99224 16303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3rd Floor, Aditya Enclave, Central Bazar Road, Ramdaspeth, Nagpur 440010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Jeevan Jyoti Blood Bank (24 hours)   </a:t>
            </a:r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0712 223 0876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53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J-12, West High Court Road, Laxmi Nagar, Nagpur 440022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 n Figure (women only)   </a:t>
            </a:r>
            <a:pPr indent="0" marL="0">
              <a:buNone/>
            </a:pPr>
            <a:r>
              <a:rPr lang="en-US" sz="1300" b="1" dirty="0">
                <a:solidFill>
                  <a:srgbClr val="F9A8D4"/>
                </a:solidFill>
              </a:rPr>
              <a:t>book through Dhruv Diagnostics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474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J-11, West High Court Road, Laxmi Nagar, Nagpur 440022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Dhruv website QR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831336"/>
            <a:ext cx="795528" cy="7955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8F5"/>
                </a:solidFill>
              </a:rPr>
              <a:t>Dhruv website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965960" y="379476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Laxmi Nagar campus map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3831336"/>
            <a:ext cx="795528" cy="7955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65960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8F5"/>
                </a:solidFill>
              </a:rPr>
              <a:t>Laxmi Nagar campus map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383280" y="379476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Jeevan Jyoti Trust website QR 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831336"/>
            <a:ext cx="795528" cy="7955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383280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8F5"/>
                </a:solidFill>
              </a:rPr>
              <a:t>Jeevan Jyoti Trust website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Anjana RM et al. Metabolic non-communicable disease health report of India: the ICMR-INDIAB national cross-sectional study. Lancet Diabetes Endocrinol 2023.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International Institute for Population Sciences. National Family Health Survey (NFHS-5), 2019-21: Maharashtra fact sheet.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CII and MediBuddy. Workplace Health Report, 3rd edition, 2026.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Plum. Health Report of Corporate India 2023 (reported by Business Standard, November 2023).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Ministry of Labour and Employment. Notifications bringing the four labour codes into force, 21 November 2025; Occupational Safety, Health and Working Conditions (Central) Rules 2026, G.S.R. 345(E), 8 May 2026.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Ministry of Electronics and IT. Digital Personal Data Protection Rules 2025, notified 13 November 2025.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Companies (Corporate Social Responsibility Policy) Rules 2014 as amended in 2021, rule 2(1)(d); Companies Act 2013, Schedule VII.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Drugs and Cosmetics (Second Amendment) Rules 2020, G.S.R. 166(E); National Blood Transfusion Council donor selection guidelines.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NABH accredited blood banks list: Jeevan Jyoti Blood Bank &amp; Components, BB-2011-0033, valid 5 April 2024 to 4 April 2027.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Package benchmarks: Wockhardt Hospitals Nagpur and KIMS-Kingsway Nagpur health check-up price lists; national lab package listings, October 2026.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hruv Group">
  <a:themeElements>
    <a:clrScheme name="Dhruv Group">
      <a:dk1>
        <a:srgbClr val="0F172A"/>
      </a:dk1>
      <a:lt1>
        <a:srgbClr val="FFFFFF"/>
      </a:lt1>
      <a:dk2>
        <a:srgbClr val="1B2A4A"/>
      </a:dk2>
      <a:lt2>
        <a:srgbClr val="EFF5FF"/>
      </a:lt2>
      <a:accent1>
        <a:srgbClr val="2563EB"/>
      </a:accent1>
      <a:accent2>
        <a:srgbClr val="BE185D"/>
      </a:accent2>
      <a:accent3>
        <a:srgbClr val="B91C1C"/>
      </a:accent3>
      <a:accent4>
        <a:srgbClr val="475569"/>
      </a:accent4>
      <a:accent5>
        <a:srgbClr val="22C55E"/>
      </a:accent5>
      <a:accent6>
        <a:srgbClr val="D6E0EE"/>
      </a:accent6>
      <a:hlink>
        <a:srgbClr val="2563EB"/>
      </a:hlink>
      <a:folHlink>
        <a:srgbClr val="475569"/>
      </a:folHlink>
    </a:clrScheme>
    <a:fontScheme name="Dhruv Grou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health and wellness programme</dc:title>
  <dc:subject>PptxGenJS Presentation</dc:subject>
  <dc:creator>Dhruv Diagnostics, Nagpur</dc:creator>
  <cp:lastModifiedBy>Dhruv Diagnostics, Nagpur</cp:lastModifiedBy>
  <cp:revision>1</cp:revision>
  <dcterms:created xsi:type="dcterms:W3CDTF">2026-10-11T17:20:53Z</dcterms:created>
  <dcterms:modified xsi:type="dcterms:W3CDTF">2026-10-11T17:20:53Z</dcterms:modified>
</cp:coreProperties>
</file>